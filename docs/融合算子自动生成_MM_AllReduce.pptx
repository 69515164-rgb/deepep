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1554480" cy="310896"/>
          </a:xfrm>
          <a:prstGeom prst="roundRect">
            <a:avLst/>
          </a:prstGeom>
          <a:solidFill>
            <a:srgbClr val="25C8DD"/>
          </a:solidFill>
          <a:ln>
            <a:solidFill>
              <a:srgbClr val="25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5544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8FAFD"/>
                </a:solidFill>
                <a:latin typeface="Droid Sans Fallback"/>
              </a:rPr>
              <a:t>技术方案汇报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713232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F8FAFD"/>
                </a:solidFill>
                <a:latin typeface="Droid Sans Fallback"/>
              </a:rPr>
              <a:t>融合算子自动生成
MM + AllReduce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834640"/>
            <a:ext cx="6858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E5ECF5"/>
                </a:solidFill>
                <a:latin typeface="Droid Sans Fallback"/>
              </a:rPr>
              <a:t>把集合通信求解器扩展到「边算边传」：
运行时只认计算→通信依赖；估时只为离线选型，不进内核当闹钟。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9560" y="1097280"/>
            <a:ext cx="3611880" cy="416052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83879" y="1554480"/>
            <a:ext cx="3063240" cy="310896"/>
          </a:xfrm>
          <a:prstGeom prst="round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1554480"/>
            <a:ext cx="3063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8FAFD"/>
                </a:solidFill>
                <a:latin typeface="Droid Sans Fallback"/>
              </a:rPr>
              <a:t>1  计算怎么切、谁先算完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2651760"/>
            <a:ext cx="3063240" cy="310896"/>
          </a:xfrm>
          <a:prstGeom prst="roundRect">
            <a:avLst/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79" y="2651760"/>
            <a:ext cx="3063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8FAFD"/>
                </a:solidFill>
                <a:latin typeface="Droid Sans Fallback"/>
              </a:rPr>
              <a:t>2  写完才允许发给谁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3749039"/>
            <a:ext cx="3063240" cy="310896"/>
          </a:xfrm>
          <a:prstGeom prst="roundRect">
            <a:avLst/>
          </a:prstGeom>
          <a:solidFill>
            <a:srgbClr val="21B573"/>
          </a:solidFill>
          <a:ln>
            <a:solidFill>
              <a:srgbClr val="21B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3749039"/>
            <a:ext cx="3063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8FAFD"/>
                </a:solidFill>
                <a:latin typeface="Droid Sans Fallback"/>
              </a:rPr>
              <a:t>3  重叠靠事件，不靠闹钟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989320"/>
            <a:ext cx="5943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8294AE"/>
                </a:solidFill>
                <a:latin typeface="Droid Sans Fallback"/>
              </a:rPr>
              <a:t>面向非本领域听众  |  2026-09
对应 docs/fusion_milp_input.md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9144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5C8DD"/>
                </a:solidFill>
                <a:latin typeface="Droid Sans Fallback"/>
              </a:rPr>
              <a:t>结论先行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11064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8FAFD"/>
                </a:solidFill>
                <a:latin typeface="Droid Sans Fallback"/>
              </a:rPr>
              <a:t>今天要拍的板：运行时认依赖，不认启动时刻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50976"/>
            <a:ext cx="914400" cy="41148"/>
          </a:xfrm>
          <a:prstGeom prst="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8294AE"/>
                </a:solidFill>
                <a:latin typeface="Droid Sans Fallback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34440"/>
            <a:ext cx="5532120" cy="315468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64008" cy="3154680"/>
          </a:xfrm>
          <a:prstGeom prst="rect">
            <a:avLst/>
          </a:prstGeom>
          <a:solidFill>
            <a:srgbClr val="21B573"/>
          </a:solidFill>
          <a:ln>
            <a:solidFill>
              <a:srgbClr val="21B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523951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Droid Sans Fallback"/>
              </a:rPr>
              <a:t>建议采用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73352"/>
            <a:ext cx="5202936" cy="2606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5ECF5"/>
                </a:solidFill>
                <a:latin typeface="Droid Sans Fallback"/>
              </a:rPr>
              <a:t>计算编译器给：tiling + 谁生产哪一包
运行时：这块写完才允许发这一包
重叠靠事件自然发生
估时只在离线比较「几种打包/VT」时用
用完扔掉微秒数，不写进内核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234440"/>
            <a:ext cx="5349240" cy="315468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234440"/>
            <a:ext cx="64008" cy="3154680"/>
          </a:xfrm>
          <a:prstGeom prst="rect">
            <a:avLst/>
          </a:prstGeom>
          <a:solidFill>
            <a:srgbClr val="E14848"/>
          </a:solidFill>
          <a:ln>
            <a:solidFill>
              <a:srgbClr val="E1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325880"/>
            <a:ext cx="5056631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Droid Sans Fallback"/>
              </a:rPr>
              <a:t>不建议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673352"/>
            <a:ext cx="5020055" cy="2606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5ECF5"/>
                </a:solidFill>
                <a:latin typeface="Droid Sans Fallback"/>
              </a:rPr>
              <a:t>不要让通信求解器去选矩阵乘切块
不要把「第 12 微秒启动」写进算子
访存争抢会让闹钟又偏又可能早发
写完就发且 Ring 已定时，连 MILP 都可以不做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617720"/>
            <a:ext cx="11109960" cy="1325880"/>
          </a:xfrm>
          <a:prstGeom prst="roundRect">
            <a:avLst/>
          </a:prstGeom>
          <a:solidFill>
            <a:srgbClr val="3A3016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4672583"/>
            <a:ext cx="10853928" cy="1216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5ECF5"/>
                </a:solidFill>
                <a:latin typeface="Droid Sans Fallback"/>
              </a:rPr>
              <a:t>背景  MILP = 混合整数线性规划，工业界用来离线搜「谁发给谁、走哪条路」。代表：TACCL、TE-CCL、SyCCL。它们输出的日程下降到库里也是等 CQE，不是墙上时钟。融合只多挂一条本地写完事件。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9144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5C8DD"/>
                </a:solidFill>
                <a:latin typeface="Droid Sans Fallback"/>
              </a:rPr>
              <a:t>问题从哪来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11064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8FAFD"/>
                </a:solidFill>
                <a:latin typeface="Droid Sans Fallback"/>
              </a:rPr>
              <a:t>业务场景：一张卡算不完的线性层，要切到多卡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50976"/>
            <a:ext cx="914400" cy="41148"/>
          </a:xfrm>
          <a:prstGeom prst="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8294AE"/>
                </a:solidFill>
                <a:latin typeface="Droid Sans Fallback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972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Droid Sans Fallback"/>
              </a:rPr>
              <a:t>大模型里最常见的一层：Y = X W     （矩阵乘，也叫 GEMM / Linear）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3611880" cy="233172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64008" cy="2331720"/>
          </a:xfrm>
          <a:prstGeom prst="rect">
            <a:avLst/>
          </a:prstGeom>
          <a:solidFill>
            <a:srgbClr val="8294AE"/>
          </a:solidFill>
          <a:ln>
            <a:solidFill>
              <a:srgbClr val="829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33192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Droid Sans Fallback"/>
              </a:rPr>
              <a:t>单卡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84832"/>
            <a:ext cx="3282696" cy="17830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5ECF5"/>
                </a:solidFill>
                <a:latin typeface="Droid Sans Fallback"/>
              </a:rPr>
              <a:t>X、W 都在一张 NPU 上
算出完整的 Y
没有卡间通信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45920"/>
            <a:ext cx="3611880" cy="233172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645920"/>
            <a:ext cx="64008" cy="2331720"/>
          </a:xfrm>
          <a:prstGeom prst="rect">
            <a:avLst/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737360"/>
            <a:ext cx="33192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Droid Sans Fallback"/>
              </a:rPr>
              <a:t>行并行（张量并行）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084832"/>
            <a:ext cx="3282696" cy="17830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5ECF5"/>
                </a:solidFill>
                <a:latin typeface="Droid Sans Fallback"/>
              </a:rPr>
              <a:t>每张卡只持有 W 的一竖条
各卡算出 Y 的一块「半成品」
必须 AllReduce 才能得到完整 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645920"/>
            <a:ext cx="3611880" cy="233172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645920"/>
            <a:ext cx="64008" cy="2331720"/>
          </a:xfrm>
          <a:prstGeom prst="rect">
            <a:avLst/>
          </a:prstGeom>
          <a:solidFill>
            <a:srgbClr val="21B573"/>
          </a:solidFill>
          <a:ln>
            <a:solidFill>
              <a:srgbClr val="21B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737360"/>
            <a:ext cx="33192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Droid Sans Fallback"/>
              </a:rPr>
              <a:t>我们要生成的融合算子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084832"/>
            <a:ext cx="3282696" cy="17830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5ECF5"/>
                </a:solidFill>
                <a:latin typeface="Droid Sans Fallback"/>
              </a:rPr>
              <a:t>不要等全部半成品算完再通信
一块半成品写出来就往外传
计算和通信在时间上重叠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206240"/>
            <a:ext cx="11109960" cy="1691640"/>
          </a:xfrm>
          <a:prstGeom prst="roundRect">
            <a:avLst/>
          </a:prstGeom>
          <a:solidFill>
            <a:srgbClr val="3A3016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4261103"/>
            <a:ext cx="10853928" cy="1581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5ECF5"/>
                </a:solidFill>
                <a:latin typeface="Droid Sans Fallback"/>
              </a:rPr>
              <a:t>背景  张量并行（TP）：把一个很大的矩阵乘拆到多张卡上算。行并行时，每张卡的局部结果要加在一起——这就是 AllReduce。列并行对应的是 AllGather，不要和 AllReduce 混用。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9144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5C8DD"/>
                </a:solidFill>
                <a:latin typeface="Droid Sans Fallback"/>
              </a:rPr>
              <a:t>名词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11064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8FAFD"/>
                </a:solidFill>
                <a:latin typeface="Droid Sans Fallback"/>
              </a:rPr>
              <a:t>背景：集合通信是什么，AllReduce 做什么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50976"/>
            <a:ext cx="914400" cy="41148"/>
          </a:xfrm>
          <a:prstGeom prst="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8294AE"/>
                </a:solidFill>
                <a:latin typeface="Droid Sans Fallback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3657600" cy="288036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64008" cy="2880360"/>
          </a:xfrm>
          <a:prstGeom prst="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336499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Droid Sans Fallback"/>
              </a:rPr>
              <a:t>集合通信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27632"/>
            <a:ext cx="3328416" cy="233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5ECF5"/>
                </a:solidFill>
                <a:latin typeface="Droid Sans Fallback"/>
              </a:rPr>
              <a:t>一群卡按固定语义交换数据。
常见：AllReduce / AllGather /
ReduceScatter / Broadcast。
通信库：NCCL（NVIDIA）、HCCL（昇腾）。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188720"/>
            <a:ext cx="3657600" cy="288036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188720"/>
            <a:ext cx="64008" cy="2880360"/>
          </a:xfrm>
          <a:prstGeom prst="rect">
            <a:avLst/>
          </a:prstGeom>
          <a:solidFill>
            <a:srgbClr val="25C8DD"/>
          </a:solidFill>
          <a:ln>
            <a:solidFill>
              <a:srgbClr val="25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280160"/>
            <a:ext cx="336499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Droid Sans Fallback"/>
              </a:rPr>
              <a:t>AllReduce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627632"/>
            <a:ext cx="3328416" cy="233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5ECF5"/>
                </a:solidFill>
                <a:latin typeface="Droid Sans Fallback"/>
              </a:rPr>
              <a:t>每张卡有一份同形状的数。
结束后每张卡都拿到
「所有卡对应位置加总」的结果。
训练里用来把切开来的线性层拼回去。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188720"/>
            <a:ext cx="3429000" cy="288036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188720"/>
            <a:ext cx="64008" cy="2880360"/>
          </a:xfrm>
          <a:prstGeom prst="rect">
            <a:avLst/>
          </a:prstGeom>
          <a:solidFill>
            <a:srgbClr val="21B573"/>
          </a:solidFill>
          <a:ln>
            <a:solidFill>
              <a:srgbClr val="21B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280160"/>
            <a:ext cx="313639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Droid Sans Fallback"/>
              </a:rPr>
              <a:t>算法长什么样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627632"/>
            <a:ext cx="3099816" cy="233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5ECF5"/>
                </a:solidFill>
                <a:latin typeface="Droid Sans Fallback"/>
              </a:rPr>
              <a:t>常见 Ring（围成环，一拍传一块）
和 HD（对半加减，对端每拍换）。
本方案默认把这种邻居关系冻住，
求解器不换算法，只排何时发。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97680"/>
            <a:ext cx="11109960" cy="1645920"/>
          </a:xfrm>
          <a:prstGeom prst="roundRect">
            <a:avLst/>
          </a:prstGeom>
          <a:solidFill>
            <a:srgbClr val="3A3016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4352544"/>
            <a:ext cx="10853928" cy="1536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5ECF5"/>
                </a:solidFill>
                <a:latin typeface="Droid Sans Fallback"/>
              </a:rPr>
              <a:t>背景  可以把 AllReduce 想成「开会时每人报一个数，最后每人手里都是总和」。Ring 是按座位传纸条；HD 是按 1、2、4… 号距离对喊。求解器若连座位表一起搜，规模会爆，所以座位表（算法）建议给定。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9144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5C8DD"/>
                </a:solidFill>
                <a:latin typeface="Droid Sans Fallback"/>
              </a:rPr>
              <a:t>名词  /  tiling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11064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8FAFD"/>
                </a:solidFill>
                <a:latin typeface="Droid Sans Fallback"/>
              </a:rPr>
              <a:t>背景：矩阵乘不能整块算，必须切成 tile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50976"/>
            <a:ext cx="914400" cy="41148"/>
          </a:xfrm>
          <a:prstGeom prst="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8294AE"/>
                </a:solidFill>
                <a:latin typeface="Droid Sans Fallback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15568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E5ECF5"/>
                </a:solidFill>
                <a:latin typeface="Droid Sans Fallback"/>
              </a:rPr>
              <a:t>Y 很大，片上缓存放不下。编译器把 Y 切成许多小矩形，一块一块算完再写出。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3611880" cy="233172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64008" cy="2331720"/>
          </a:xfrm>
          <a:prstGeom prst="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33192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Droid Sans Fallback"/>
              </a:rPr>
              <a:t>BM × BN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93391"/>
            <a:ext cx="3282696" cy="17830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5ECF5"/>
                </a:solidFill>
                <a:latin typeface="Droid Sans Fallback"/>
              </a:rPr>
              <a:t>输出 Y 上一个小矩形的高和宽。
这是能交给通信的最小「成品块」，
叫 C-tile。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554480"/>
            <a:ext cx="3611880" cy="233172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554480"/>
            <a:ext cx="64008" cy="2331720"/>
          </a:xfrm>
          <a:prstGeom prst="rect">
            <a:avLst/>
          </a:prstGeom>
          <a:solidFill>
            <a:srgbClr val="25C8DD"/>
          </a:solidFill>
          <a:ln>
            <a:solidFill>
              <a:srgbClr val="25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645920"/>
            <a:ext cx="33192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Droid Sans Fallback"/>
              </a:rPr>
              <a:t>BK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993391"/>
            <a:ext cx="3282696" cy="17830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5ECF5"/>
                </a:solidFill>
                <a:latin typeface="Droid Sans Fallback"/>
              </a:rPr>
              <a:t>沿 K 方向一次吃多长。
一个 C-tile 要折好几次 K
才算完、才能写出去。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554480"/>
            <a:ext cx="3611880" cy="233172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554480"/>
            <a:ext cx="64008" cy="2331720"/>
          </a:xfrm>
          <a:prstGeom prst="rect">
            <a:avLst/>
          </a:prstGeom>
          <a:solidFill>
            <a:srgbClr val="21B573"/>
          </a:solidFill>
          <a:ln>
            <a:solidFill>
              <a:srgbClr val="21B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645920"/>
            <a:ext cx="33192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Droid Sans Fallback"/>
              </a:rPr>
              <a:t>循环顺序 / wave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1993391"/>
            <a:ext cx="3282696" cy="17830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5ECF5"/>
                </a:solidFill>
                <a:latin typeface="Droid Sans Fallback"/>
              </a:rPr>
              <a:t>先算哪一行、哪一列；
同一拍片上能并几块。
这决定「第几块何时出炉」。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114800"/>
            <a:ext cx="11109960" cy="1783080"/>
          </a:xfrm>
          <a:prstGeom prst="roundRect">
            <a:avLst/>
          </a:prstGeom>
          <a:solidFill>
            <a:srgbClr val="3A3016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4169663"/>
            <a:ext cx="10853928" cy="1673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5ECF5"/>
                </a:solidFill>
                <a:latin typeface="Droid Sans Fallback"/>
              </a:rPr>
              <a:t>背景  tiling = 切块策略，是计算编译器（Triton / CUTLASS / AscendC）的主业。它只回答「空间上切成哪些块」，不回答「通信走哪条网线」。选错切块，卡的算力都喂不饱，这不是通信求解器能替代的。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9144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5C8DD"/>
                </a:solidFill>
                <a:latin typeface="Droid Sans Fallback"/>
              </a:rPr>
              <a:t>名词  /  计算流图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11064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8FAFD"/>
                </a:solidFill>
                <a:latin typeface="Droid Sans Fallback"/>
              </a:rPr>
              <a:t>背景：计算流图 = 这些 tile 按什么顺序、花多长时间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50976"/>
            <a:ext cx="914400" cy="41148"/>
          </a:xfrm>
          <a:prstGeom prst="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8294AE"/>
                </a:solidFill>
                <a:latin typeface="Droid Sans Fallback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3657600" cy="246888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64008" cy="2468880"/>
          </a:xfrm>
          <a:prstGeom prst="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336499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Droid Sans Fallback"/>
              </a:rPr>
              <a:t>节点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27632"/>
            <a:ext cx="3328416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5ECF5"/>
                </a:solidFill>
                <a:latin typeface="Droid Sans Fallback"/>
              </a:rPr>
              <a:t>每一个 C-tile（或同一拍的一组，叫 wave）。
必须和 tiling 切出来的块是同一套名字，
不能另编一套编号。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188720"/>
            <a:ext cx="3657600" cy="246888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188720"/>
            <a:ext cx="64008" cy="2468880"/>
          </a:xfrm>
          <a:prstGeom prst="rect">
            <a:avLst/>
          </a:prstGeom>
          <a:solidFill>
            <a:srgbClr val="25C8DD"/>
          </a:solidFill>
          <a:ln>
            <a:solidFill>
              <a:srgbClr val="25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280160"/>
            <a:ext cx="336499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Droid Sans Fallback"/>
              </a:rPr>
              <a:t>边 = 依赖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627632"/>
            <a:ext cx="3328416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5ECF5"/>
                </a:solidFill>
                <a:latin typeface="Droid Sans Fallback"/>
              </a:rPr>
              <a:t>同一块输出沿 K 必须按序累加；
kernel 里已经排好的发射顺序。
本方案要求这是「已经排好的计划」，
不是还可以随便重排的草稿。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188720"/>
            <a:ext cx="3429000" cy="246888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188720"/>
            <a:ext cx="64008" cy="2468880"/>
          </a:xfrm>
          <a:prstGeom prst="rect">
            <a:avLst/>
          </a:prstGeom>
          <a:solidFill>
            <a:srgbClr val="21B573"/>
          </a:solidFill>
          <a:ln>
            <a:solidFill>
              <a:srgbClr val="21B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280160"/>
            <a:ext cx="313639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Droid Sans Fallback"/>
              </a:rPr>
              <a:t>dur = 耗时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627632"/>
            <a:ext cx="3099816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5ECF5"/>
                </a:solidFill>
                <a:latin typeface="Droid Sans Fallback"/>
              </a:rPr>
              <a:t>这块占计算单元多久。
由切块大小和芯片峰值估出来，
当已知数，不当求解变量。
有了顺序和 dur，就能推出完成时刻。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86200"/>
            <a:ext cx="11109960" cy="1965960"/>
          </a:xfrm>
          <a:prstGeom prst="roundRect">
            <a:avLst/>
          </a:prstGeom>
          <a:solidFill>
            <a:srgbClr val="3A3016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3941063"/>
            <a:ext cx="10853928" cy="18562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5ECF5"/>
                </a:solidFill>
                <a:latin typeface="Droid Sans Fallback"/>
              </a:rPr>
              <a:t>背景  流图可以想成工厂流水线的工单：第 1 块 10 微秒、第 2 块接着做……。没有「谁先谁后」和「做多久」，就不知道半成品何时能装箱发货，通信求解器无法开工。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9144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5C8DD"/>
                </a:solidFill>
                <a:latin typeface="Droid Sans Fallback"/>
              </a:rPr>
              <a:t>实例  /  dur 从哪来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11064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8FAFD"/>
                </a:solidFill>
                <a:latin typeface="Droid Sans Fallback"/>
              </a:rPr>
              <a:t>关键澄清：流图不会发明耗时，只负责串成时间轴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50976"/>
            <a:ext cx="914400" cy="41148"/>
          </a:xfrm>
          <a:prstGeom prst="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8294AE"/>
                </a:solidFill>
                <a:latin typeface="Droid Sans Fallback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70432"/>
            <a:ext cx="5532120" cy="306324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170432"/>
            <a:ext cx="64008" cy="3063240"/>
          </a:xfrm>
          <a:prstGeom prst="rect">
            <a:avLst/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61872"/>
            <a:ext cx="523951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Droid Sans Fallback"/>
              </a:rPr>
              <a:t>第 1 步  代价模型填 dur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09344"/>
            <a:ext cx="5202936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5ECF5"/>
                </a:solidFill>
                <a:latin typeface="Droid Sans Fallback"/>
              </a:rPr>
              <a:t>计算编译器拿切块尺寸和芯片峰值
算出「这一块占 Cube 多久」
写进节点，当成已知数
三种来源均可：屋顶线公式 / 按 K 片估 / kernel 打点实测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170432"/>
            <a:ext cx="5349240" cy="306324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170432"/>
            <a:ext cx="64008" cy="3063240"/>
          </a:xfrm>
          <a:prstGeom prst="rect">
            <a:avLst/>
          </a:prstGeom>
          <a:solidFill>
            <a:srgbClr val="21B573"/>
          </a:solidFill>
          <a:ln>
            <a:solidFill>
              <a:srgbClr val="21B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261872"/>
            <a:ext cx="5056631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Droid Sans Fallback"/>
              </a:rPr>
              <a:t>第 2 步  流图只做加法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609344"/>
            <a:ext cx="5020055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5ECF5"/>
                </a:solidFill>
                <a:latin typeface="Droid Sans Fallback"/>
              </a:rPr>
              <a:t>已经排好谁先谁后
start[下一块] = 上一块结束时刻
finish = start + dur
没有第 1 步的微秒数，空流图给不出任何时间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434840"/>
            <a:ext cx="11109960" cy="1417320"/>
          </a:xfrm>
          <a:prstGeom prst="roundRect">
            <a:avLst/>
          </a:prstGeom>
          <a:solidFill>
            <a:srgbClr val="3A3016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4489703"/>
            <a:ext cx="10853928" cy="1307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5ECF5"/>
                </a:solidFill>
                <a:latin typeface="Droid Sans Fallback"/>
              </a:rPr>
              <a:t>背景  后面 3 页用同一套手算数字：2×2 个 C-tile，每块 10 微秒。峰值取整是为了能口算，不是芯片手册；换 950 的峰值表，步骤不变。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9144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5C8DD"/>
                </a:solidFill>
                <a:latin typeface="Droid Sans Fallback"/>
              </a:rPr>
              <a:t>实例  /  形状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11064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8FAFD"/>
                </a:solidFill>
                <a:latin typeface="Droid Sans Fallback"/>
              </a:rPr>
              <a:t>手算实例：本 rank 上的一块局部矩阵乘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50976"/>
            <a:ext cx="914400" cy="41148"/>
          </a:xfrm>
          <a:prstGeom prst="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8294AE"/>
                </a:solidFill>
                <a:latin typeface="Droid Sans Fallback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15568"/>
            <a:ext cx="10972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8FAFD"/>
                </a:solidFill>
                <a:latin typeface="Droid Sans Fallback"/>
              </a:rPr>
              <a:t>Y_partial = X @ W，FP16，K 已被张量并行切开    M=256  N=256  K=1024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532120" cy="260604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64008" cy="2606040"/>
          </a:xfrm>
          <a:prstGeom prst="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523951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Droid Sans Fallback"/>
              </a:rPr>
              <a:t>切块 tiling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93391"/>
            <a:ext cx="5202936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5ECF5"/>
                </a:solidFill>
                <a:latin typeface="Droid Sans Fallback"/>
              </a:rPr>
              <a:t>BM=BN=128，BK=256
C-tile 网格 2×2，共 4 块
每块内部沿 K 折 4 次才写完
wave=1：一次只算一块，四块串行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554480"/>
            <a:ext cx="5349240" cy="260604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554480"/>
            <a:ext cx="64008" cy="2606040"/>
          </a:xfrm>
          <a:prstGeom prst="rect">
            <a:avLst/>
          </a:prstGeom>
          <a:solidFill>
            <a:srgbClr val="25C8DD"/>
          </a:solidFill>
          <a:ln>
            <a:solidFill>
              <a:srgbClr val="25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645920"/>
            <a:ext cx="5056631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Droid Sans Fallback"/>
              </a:rPr>
              <a:t>四个输出块怎么摆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993391"/>
            <a:ext cx="5020055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5ECF5"/>
                </a:solidFill>
                <a:latin typeface="Droid Sans Fallback"/>
              </a:rPr>
              <a:t>        N0        N1
   M0   C00       C01
   M1   C10       C11
每块写出 128×128 的半成品
必须整块写完才能进 AllReduce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343400"/>
            <a:ext cx="11109960" cy="1508760"/>
          </a:xfrm>
          <a:prstGeom prst="roundRect">
            <a:avLst/>
          </a:prstGeom>
          <a:solidFill>
            <a:srgbClr val="3A3016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4398264"/>
            <a:ext cx="10853928" cy="13990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5ECF5"/>
                </a:solidFill>
                <a:latin typeface="Droid Sans Fallback"/>
              </a:rPr>
              <a:t>背景  背景：大矩阵放不进片上缓存，所以切成 C-tile。本例故意切成 4 块，方便一页写完；真实线性层可能是几百块，公式相同。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9144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5C8DD"/>
                </a:solidFill>
                <a:latin typeface="Droid Sans Fallback"/>
              </a:rPr>
              <a:t>实例  /  代价模型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11064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8FAFD"/>
                </a:solidFill>
                <a:latin typeface="Droid Sans Fallback"/>
              </a:rPr>
              <a:t>一步算出每块 dur = 10 微秒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50976"/>
            <a:ext cx="914400" cy="41148"/>
          </a:xfrm>
          <a:prstGeom prst="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8294AE"/>
                </a:solidFill>
                <a:latin typeface="Droid Sans Fallback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43000"/>
            <a:ext cx="5532120" cy="233172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64008" cy="2331720"/>
          </a:xfrm>
          <a:prstGeom prst="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34440"/>
            <a:ext cx="523951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Droid Sans Fallback"/>
              </a:rPr>
              <a:t>一块的算术量和搬运量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81912"/>
            <a:ext cx="5202936" cy="17830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5ECF5"/>
                </a:solidFill>
                <a:latin typeface="Droid Sans Fallback"/>
              </a:rPr>
              <a:t>乘法次数 FLOPs = 2×128×128×1024 = 3355 万次
读 X 262KB + 读 W 262KB + 写 Y 32KB
合计搬运 557KB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143000"/>
            <a:ext cx="5349240" cy="233172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143000"/>
            <a:ext cx="64008" cy="2331720"/>
          </a:xfrm>
          <a:prstGeom prst="rect">
            <a:avLst/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234440"/>
            <a:ext cx="5056631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Droid Sans Fallback"/>
              </a:rPr>
              <a:t>屋顶线：算得动还是搬得动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581912"/>
            <a:ext cx="5020055" cy="17830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5ECF5"/>
                </a:solidFill>
                <a:latin typeface="Droid Sans Fallback"/>
              </a:rPr>
              <a:t>示意峰值 4.2 TFLOPS → 算要 8.0 μs
示意带宽 1.6 TB/s → 搬要 0.35 μs
取较慢的一边 = 8.0 μs（算力墙）
再加灌流水 1 μs + 排空 1 μs → dur=10 μs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657600"/>
            <a:ext cx="10972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8FAFD"/>
                </a:solidFill>
                <a:latin typeface="Droid Sans Fallback"/>
              </a:rPr>
              <a:t>四块形状相同  →  dur[C00]=dur[C01]=dur[C10]=dur[C11]=10 μs   （写进流图，MILP 当常数）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160520"/>
            <a:ext cx="11109960" cy="1691640"/>
          </a:xfrm>
          <a:prstGeom prst="roundRect">
            <a:avLst/>
          </a:prstGeom>
          <a:solidFill>
            <a:srgbClr val="3A3016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4215383"/>
            <a:ext cx="10853928" cy="1581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5ECF5"/>
                </a:solidFill>
                <a:latin typeface="Droid Sans Fallback"/>
              </a:rPr>
              <a:t>背景  屋顶线：把「算」和「搬」各估一次时间，谁慢听谁的。编译器也可以按 4 次 K 片估（1+4×2+1=10），或对 kernel 打点回填。三种都不进通信求解器。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9144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5C8DD"/>
                </a:solidFill>
                <a:latin typeface="Droid Sans Fallback"/>
              </a:rPr>
              <a:t>实例  /  时间轴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11064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8FAFD"/>
                </a:solidFill>
                <a:latin typeface="Droid Sans Fallback"/>
              </a:rPr>
              <a:t>按发射顺序串起来，才得到「第几块几点钟出炉」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50976"/>
            <a:ext cx="914400" cy="41148"/>
          </a:xfrm>
          <a:prstGeom prst="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8294AE"/>
                </a:solidFill>
                <a:latin typeface="Droid Sans Fallback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9728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E5ECF5"/>
                </a:solidFill>
                <a:latin typeface="Droid Sans Fallback"/>
              </a:rPr>
              <a:t>issue 序：C00 → C01 → C10 → C11     公式：下一块开始 = 上一块结束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2697480" cy="2148840"/>
          </a:xfrm>
          <a:prstGeom prst="roundRect">
            <a:avLst/>
          </a:prstGeom>
          <a:solidFill>
            <a:srgbClr val="1C2739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25880" y="1600200"/>
            <a:ext cx="1097280" cy="310896"/>
          </a:xfrm>
          <a:prstGeom prst="round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1600200"/>
            <a:ext cx="1097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8FAFD"/>
                </a:solidFill>
                <a:latin typeface="Droid Sans Fallback"/>
              </a:rPr>
              <a:t>C00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57400"/>
            <a:ext cx="242316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E5ECF5"/>
                </a:solidFill>
                <a:latin typeface="Droid Sans Fallback"/>
              </a:rPr>
              <a:t>开始 0 μs
写完 10 μs
ready 12 μs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463040"/>
            <a:ext cx="2697480" cy="2148840"/>
          </a:xfrm>
          <a:prstGeom prst="roundRect">
            <a:avLst/>
          </a:prstGeom>
          <a:solidFill>
            <a:srgbClr val="1C2739"/>
          </a:solidFill>
          <a:ln>
            <a:solidFill>
              <a:srgbClr val="25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06240" y="1600200"/>
            <a:ext cx="1097280" cy="310896"/>
          </a:xfrm>
          <a:prstGeom prst="roundRect">
            <a:avLst/>
          </a:prstGeom>
          <a:solidFill>
            <a:srgbClr val="25C8DD"/>
          </a:solidFill>
          <a:ln>
            <a:solidFill>
              <a:srgbClr val="25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1600200"/>
            <a:ext cx="1097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8FAFD"/>
                </a:solidFill>
                <a:latin typeface="Droid Sans Fallback"/>
              </a:rPr>
              <a:t>C01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057400"/>
            <a:ext cx="242316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E5ECF5"/>
                </a:solidFill>
                <a:latin typeface="Droid Sans Fallback"/>
              </a:rPr>
              <a:t>开始 10 μs
写完 20 μs
ready 22 μs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1463040"/>
            <a:ext cx="2697480" cy="2148840"/>
          </a:xfrm>
          <a:prstGeom prst="roundRect">
            <a:avLst/>
          </a:prstGeom>
          <a:solidFill>
            <a:srgbClr val="1C2739"/>
          </a:solidFill>
          <a:ln>
            <a:solidFill>
              <a:srgbClr val="25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086599" y="1600200"/>
            <a:ext cx="1097280" cy="310896"/>
          </a:xfrm>
          <a:prstGeom prst="round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86599" y="1600200"/>
            <a:ext cx="1097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8FAFD"/>
                </a:solidFill>
                <a:latin typeface="Droid Sans Fallback"/>
              </a:rPr>
              <a:t>C10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057400"/>
            <a:ext cx="242316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E5ECF5"/>
                </a:solidFill>
                <a:latin typeface="Droid Sans Fallback"/>
              </a:rPr>
              <a:t>开始 20 μs
写完 30 μs
ready 32 μs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19" y="1463040"/>
            <a:ext cx="2697480" cy="2148840"/>
          </a:xfrm>
          <a:prstGeom prst="roundRect">
            <a:avLst/>
          </a:prstGeom>
          <a:solidFill>
            <a:srgbClr val="1C2739"/>
          </a:solidFill>
          <a:ln>
            <a:solidFill>
              <a:srgbClr val="25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966959" y="1600200"/>
            <a:ext cx="1097280" cy="310896"/>
          </a:xfrm>
          <a:prstGeom prst="roundRect">
            <a:avLst/>
          </a:prstGeom>
          <a:solidFill>
            <a:srgbClr val="25C8DD"/>
          </a:solidFill>
          <a:ln>
            <a:solidFill>
              <a:srgbClr val="25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6959" y="1600200"/>
            <a:ext cx="1097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8FAFD"/>
                </a:solidFill>
                <a:latin typeface="Droid Sans Fallback"/>
              </a:rPr>
              <a:t>C11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2057400"/>
            <a:ext cx="242316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E5ECF5"/>
                </a:solidFill>
                <a:latin typeface="Droid Sans Fallback"/>
              </a:rPr>
              <a:t>开始 30 μs
写完 40 μs
ready 42 μs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840480"/>
            <a:ext cx="11109960" cy="2011680"/>
          </a:xfrm>
          <a:prstGeom prst="roundRect">
            <a:avLst/>
          </a:prstGeom>
          <a:solidFill>
            <a:srgbClr val="3A3016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" y="3895344"/>
            <a:ext cx="10853928" cy="1901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5ECF5"/>
                </a:solidFill>
                <a:latin typeface="Droid Sans Fallback"/>
              </a:rPr>
              <a:t>背景  ready = 写完 + 2 μs（写到通信可见的固定延迟）。这 12/22/32/42 只是离线估算，用来比较打包方案。运行时是 C00 写完就发，不是到点闹钟。见下一页。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9144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5C8DD"/>
                </a:solidFill>
                <a:latin typeface="Droid Sans Fallback"/>
              </a:rPr>
              <a:t>拍板  /  抖动与争抢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11064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8FAFD"/>
                </a:solidFill>
                <a:latin typeface="Droid Sans Fallback"/>
              </a:rPr>
              <a:t>运行时只要先后依赖，不要通信启动时刻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50976"/>
            <a:ext cx="914400" cy="41148"/>
          </a:xfrm>
          <a:prstGeom prst="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8294AE"/>
                </a:solidFill>
                <a:latin typeface="Droid Sans Fallback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70432"/>
            <a:ext cx="5532120" cy="315468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170432"/>
            <a:ext cx="64008" cy="3154680"/>
          </a:xfrm>
          <a:prstGeom prst="rect">
            <a:avLst/>
          </a:prstGeom>
          <a:solidFill>
            <a:srgbClr val="21B573"/>
          </a:solidFill>
          <a:ln>
            <a:solidFill>
              <a:srgbClr val="21B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61872"/>
            <a:ext cx="523951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Droid Sans Fallback"/>
              </a:rPr>
              <a:t>正确性：一条边就够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09344"/>
            <a:ext cx="5202936" cy="2606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5ECF5"/>
                </a:solidFill>
                <a:latin typeface="Droid Sans Fallback"/>
              </a:rPr>
              <a:t>C-tile 写完（事件）→ 才允许 post 这一包
下一块继续算，上一包已经在路上
重叠是事件调度的自然结果
不需要、也不该给出「第 12 微秒启动」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170432"/>
            <a:ext cx="5349240" cy="315468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170432"/>
            <a:ext cx="64008" cy="3154680"/>
          </a:xfrm>
          <a:prstGeom prst="rect">
            <a:avLst/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261872"/>
            <a:ext cx="5056631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Droid Sans Fallback"/>
              </a:rPr>
              <a:t>估时不准是必然，也没关系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609344"/>
            <a:ext cx="5020055" cy="2606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5ECF5"/>
                </a:solidFill>
                <a:latin typeface="Droid Sans Fallback"/>
              </a:rPr>
              <a:t>边算边传会抢同一套访存
规划时的 dur 一定会被带偏
再估也估不圆，因为一发通信 dur 就变
拆开循环：不用启动点，用完成事件
晚到就晚发，结果仍对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526280"/>
            <a:ext cx="11109960" cy="1371600"/>
          </a:xfrm>
          <a:prstGeom prst="roundRect">
            <a:avLst/>
          </a:prstGeom>
          <a:solidFill>
            <a:srgbClr val="3A3016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4581144"/>
            <a:ext cx="10853928" cy="1261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5ECF5"/>
                </a:solidFill>
                <a:latin typeface="Droid Sans Fallback"/>
              </a:rPr>
              <a:t>背景  背景：集合通信库（NCCL/HCCL）本来就是「上一跳 CQE 到了再发下一跳」，没有墙上时钟。融合只是多挂一条「本地这块矩阵乘写完」。定时器 post 在争抢下既慢又可能早发，属于错误下降。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9144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5C8DD"/>
                </a:solidFill>
                <a:latin typeface="Droid Sans Fallback"/>
              </a:rPr>
              <a:t>拍板  /  两层分工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11064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8FAFD"/>
                </a:solidFill>
                <a:latin typeface="Droid Sans Fallback"/>
              </a:rPr>
              <a:t>估时只给离线选型用，用完扔掉微秒数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50976"/>
            <a:ext cx="914400" cy="41148"/>
          </a:xfrm>
          <a:prstGeom prst="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8294AE"/>
                </a:solidFill>
                <a:latin typeface="Droid Sans Fallback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70432"/>
            <a:ext cx="5532120" cy="260604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170432"/>
            <a:ext cx="64008" cy="2606040"/>
          </a:xfrm>
          <a:prstGeom prst="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61872"/>
            <a:ext cx="523951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Droid Sans Fallback"/>
              </a:rPr>
              <a:t>策略已钉死：可以没有 dur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09344"/>
            <a:ext cx="5202936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5ECF5"/>
                </a:solidFill>
                <a:latin typeface="Droid Sans Fallback"/>
              </a:rPr>
              <a:t>冻 Ring、一块就是一包、写完就发、VT 已定
没有选择可搜 → 不要 MILP，不要启动时刻
编译器只给 tiling +「谁生产哪一包」这条边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170432"/>
            <a:ext cx="5349240" cy="260604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170432"/>
            <a:ext cx="64008" cy="2606040"/>
          </a:xfrm>
          <a:prstGeom prst="rect">
            <a:avLst/>
          </a:prstGeom>
          <a:solidFill>
            <a:srgbClr val="25C8DD"/>
          </a:solidFill>
          <a:ln>
            <a:solidFill>
              <a:srgbClr val="25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261872"/>
            <a:ext cx="5056631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Droid Sans Fallback"/>
              </a:rPr>
              <a:t>还要选结构：才估时跑求解器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609344"/>
            <a:ext cx="5020055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5ECF5"/>
                </a:solidFill>
                <a:latin typeface="Droid Sans Fallback"/>
              </a:rPr>
              <a:t>几块打一包、几条 VT、走哪条路
用估时比较谁的总时间短
交出的是打包和映射，不是闹钟
下降：wait(写完事件); post_wqe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77639"/>
            <a:ext cx="11109960" cy="1874519"/>
          </a:xfrm>
          <a:prstGeom prst="roundRect">
            <a:avLst/>
          </a:prstGeom>
          <a:solidFill>
            <a:srgbClr val="3A3016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4032503"/>
            <a:ext cx="10853928" cy="17647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5ECF5"/>
                </a:solidFill>
                <a:latin typeface="Droid Sans Fallback"/>
              </a:rPr>
              <a:t>背景  一句话：依赖保证对；估时只用来选方案；时钟不进内核。访存争抢的残差交给硬件仲裁；若还要运行时再切分，走自适应 VT，而不是改启动时刻。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9144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5C8DD"/>
                </a:solidFill>
                <a:latin typeface="Droid Sans Fallback"/>
              </a:rPr>
              <a:t>名词  /  MILP 综合器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11064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8FAFD"/>
                </a:solidFill>
                <a:latin typeface="Droid Sans Fallback"/>
              </a:rPr>
              <a:t>背景：现有求解器本来只干一件事——编通信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50976"/>
            <a:ext cx="914400" cy="41148"/>
          </a:xfrm>
          <a:prstGeom prst="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8294AE"/>
                </a:solidFill>
                <a:latin typeface="Droid Sans Fallback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1556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E5ECF5"/>
                </a:solidFill>
                <a:latin typeface="Droid Sans Fallback"/>
              </a:rPr>
              <a:t>输入：卡怎么连、每条链路多慢、要做哪种集合、数据切成几块。
输出：一张时刻表——谁在何时把哪一块发给谁。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3611880" cy="196596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64008" cy="1965960"/>
          </a:xfrm>
          <a:prstGeom prst="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33192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Droid Sans Fallback"/>
              </a:rPr>
              <a:t>TACCL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59152"/>
            <a:ext cx="3282696" cy="14173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5ECF5"/>
                </a:solidFill>
                <a:latin typeface="Droid Sans Fallback"/>
              </a:rPr>
              <a:t>把拓扑和集体语义写成整数规划
搜通信日程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920240"/>
            <a:ext cx="3611880" cy="196596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920240"/>
            <a:ext cx="64008" cy="1965960"/>
          </a:xfrm>
          <a:prstGeom prst="rect">
            <a:avLst/>
          </a:prstGeom>
          <a:solidFill>
            <a:srgbClr val="25C8DD"/>
          </a:solidFill>
          <a:ln>
            <a:solidFill>
              <a:srgbClr val="25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011680"/>
            <a:ext cx="33192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Droid Sans Fallback"/>
              </a:rPr>
              <a:t>TE-CCL / OptCCL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359152"/>
            <a:ext cx="3282696" cy="14173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5ECF5"/>
                </a:solidFill>
                <a:latin typeface="Droid Sans Fallback"/>
              </a:rPr>
              <a:t>更细的时间或代价模型
仍只搜通信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920240"/>
            <a:ext cx="3611880" cy="196596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920240"/>
            <a:ext cx="64008" cy="1965960"/>
          </a:xfrm>
          <a:prstGeom prst="rect">
            <a:avLst/>
          </a:prstGeom>
          <a:solidFill>
            <a:srgbClr val="21B573"/>
          </a:solidFill>
          <a:ln>
            <a:solidFill>
              <a:srgbClr val="21B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011680"/>
            <a:ext cx="33192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Droid Sans Fallback"/>
              </a:rPr>
              <a:t>SyCCL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359152"/>
            <a:ext cx="3282696" cy="14173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5ECF5"/>
                </a:solidFill>
                <a:latin typeface="Droid Sans Fallback"/>
              </a:rPr>
              <a:t>用对称把大规模切成小问题
仍然不碰矩阵乘切块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160520"/>
            <a:ext cx="11109960" cy="1737360"/>
          </a:xfrm>
          <a:prstGeom prst="roundRect">
            <a:avLst/>
          </a:prstGeom>
          <a:solidFill>
            <a:srgbClr val="3A3016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4215383"/>
            <a:ext cx="10853928" cy="16276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5ECF5"/>
                </a:solidFill>
                <a:latin typeface="Droid Sans Fallback"/>
              </a:rPr>
              <a:t>背景  这些求解器假设「数据一开始就在」。融合场景里，数据是矩阵乘一块块生产出来的——所以我们只多加一条规矩：这块还没算完，不准发。求解器本体不用推倒重来。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9144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5C8DD"/>
                </a:solidFill>
                <a:latin typeface="Droid Sans Fallback"/>
              </a:rPr>
              <a:t>动机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11064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8FAFD"/>
                </a:solidFill>
                <a:latin typeface="Droid Sans Fallback"/>
              </a:rPr>
              <a:t>要解决的低效：算完再传 vs 边算边传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50976"/>
            <a:ext cx="914400" cy="41148"/>
          </a:xfrm>
          <a:prstGeom prst="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8294AE"/>
                </a:solidFill>
                <a:latin typeface="Droid Sans Fallback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5394960" cy="278892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64008" cy="2788920"/>
          </a:xfrm>
          <a:prstGeom prst="rect">
            <a:avLst/>
          </a:prstGeom>
          <a:solidFill>
            <a:srgbClr val="E14848"/>
          </a:solidFill>
          <a:ln>
            <a:solidFill>
              <a:srgbClr val="E1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510235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Droid Sans Fallback"/>
              </a:rPr>
              <a:t>现在常见（两阶段）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27632"/>
            <a:ext cx="5065776" cy="22402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5ECF5"/>
                </a:solidFill>
                <a:latin typeface="Droid Sans Fallback"/>
              </a:rPr>
              <a:t>全部 C-tile 算完
→ 再启动一次 AllReduce
时间 ≈ 计算 + 通信
卡在通信时计算单元空转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188720"/>
            <a:ext cx="5394960" cy="278892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188720"/>
            <a:ext cx="64008" cy="2788920"/>
          </a:xfrm>
          <a:prstGeom prst="rect">
            <a:avLst/>
          </a:prstGeom>
          <a:solidFill>
            <a:srgbClr val="21B573"/>
          </a:solidFill>
          <a:ln>
            <a:solidFill>
              <a:srgbClr val="21B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280160"/>
            <a:ext cx="510235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Droid Sans Fallback"/>
              </a:rPr>
              <a:t>融合算子（目标）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627632"/>
            <a:ext cx="5065776" cy="22402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5ECF5"/>
                </a:solidFill>
                <a:latin typeface="Droid Sans Fallback"/>
              </a:rPr>
              <a:t>第 1 块写出来就开始传
后面的块边算边传
时间 ≈ max(计算, 通信) 量级
这就是 MM+AllReduce 融合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06240"/>
            <a:ext cx="11109960" cy="1645920"/>
          </a:xfrm>
          <a:prstGeom prst="roundRect">
            <a:avLst/>
          </a:prstGeom>
          <a:solidFill>
            <a:srgbClr val="3A3016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4261103"/>
            <a:ext cx="10853928" cy="1536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5ECF5"/>
                </a:solidFill>
                <a:latin typeface="Droid Sans Fallback"/>
              </a:rPr>
              <a:t>背景  「融合算子」不是把两个 API 写成一个函数名就完了。关键是时间上重叠，且重叠必须合法：没生产出来的数不能提前进 AllReduce，否则结果是错的。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9144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5C8DD"/>
                </a:solidFill>
                <a:latin typeface="Droid Sans Fallback"/>
              </a:rPr>
              <a:t>分工理由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11064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8FAFD"/>
                </a:solidFill>
                <a:latin typeface="Droid Sans Fallback"/>
              </a:rPr>
              <a:t>为什么不让求解器连切块一起搜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50976"/>
            <a:ext cx="914400" cy="41148"/>
          </a:xfrm>
          <a:prstGeom prst="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8294AE"/>
                </a:solidFill>
                <a:latin typeface="Droid Sans Fallback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3611880" cy="288036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64008" cy="2880360"/>
          </a:xfrm>
          <a:prstGeom prst="rect">
            <a:avLst/>
          </a:prstGeom>
          <a:solidFill>
            <a:srgbClr val="E14848"/>
          </a:solidFill>
          <a:ln>
            <a:solidFill>
              <a:srgbClr val="E1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33192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Droid Sans Fallback"/>
              </a:rPr>
              <a:t>搜的东西不一样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27632"/>
            <a:ext cx="3282696" cy="233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5ECF5"/>
                </a:solidFill>
                <a:latin typeface="Droid Sans Fallback"/>
              </a:rPr>
              <a:t>通信变量：哪块数据走哪条链路。
切块变量：小矩形长宽、流水级数。
乘在一起，方程规模爆炸。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188720"/>
            <a:ext cx="3611880" cy="288036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188720"/>
            <a:ext cx="64008" cy="2880360"/>
          </a:xfrm>
          <a:prstGeom prst="rect">
            <a:avLst/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280160"/>
            <a:ext cx="33192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Droid Sans Fallback"/>
              </a:rPr>
              <a:t>快慢模型不一样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627632"/>
            <a:ext cx="3282696" cy="233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5ECF5"/>
                </a:solidFill>
                <a:latin typeface="Droid Sans Fallback"/>
              </a:rPr>
              <a:t>链路用「启动延迟 + 每字节时间」。
切块快慢取决于计算单元和内存层次。
通信求解器没有一份可信的切块耗时表。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188720"/>
            <a:ext cx="3611880" cy="288036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188720"/>
            <a:ext cx="64008" cy="2880360"/>
          </a:xfrm>
          <a:prstGeom prst="rect">
            <a:avLst/>
          </a:prstGeom>
          <a:solidFill>
            <a:srgbClr val="25C8DD"/>
          </a:solidFill>
          <a:ln>
            <a:solidFill>
              <a:srgbClr val="25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280160"/>
            <a:ext cx="33192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Droid Sans Fallback"/>
              </a:rPr>
              <a:t>改切块等于改实现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627632"/>
            <a:ext cx="3282696" cy="233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5ECF5"/>
                </a:solidFill>
                <a:latin typeface="Droid Sans Fallback"/>
              </a:rPr>
              <a:t>切块、累加顺序、尾处理（bias/激活）
影响数值。这是计算编译器的职责，
通信求解器改了就是改 GEMM。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97680"/>
            <a:ext cx="11109960" cy="1554480"/>
          </a:xfrm>
          <a:prstGeom prst="roundRect">
            <a:avLst/>
          </a:prstGeom>
          <a:solidFill>
            <a:srgbClr val="3A3016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4352544"/>
            <a:ext cx="10853928" cy="1444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5ECF5"/>
                </a:solidFill>
                <a:latin typeface="Droid Sans Fallback"/>
              </a:rPr>
              <a:t>背景  如果以后要试几种切块，放在外层：计算编译器给出 3～5 套候选，每套跑一次通信求解器，比较总完成时间。切块仍然不进求解器内部。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9144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5C8DD"/>
                </a:solidFill>
                <a:latin typeface="Droid Sans Fallback"/>
              </a:rPr>
              <a:t>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11064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8FAFD"/>
                </a:solidFill>
                <a:latin typeface="Droid Sans Fallback"/>
              </a:rPr>
              <a:t>方案：编译器给两份，求解器只编通信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50976"/>
            <a:ext cx="914400" cy="41148"/>
          </a:xfrm>
          <a:prstGeom prst="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8294AE"/>
                </a:solidFill>
                <a:latin typeface="Droid Sans Fallback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2697480" cy="2331720"/>
          </a:xfrm>
          <a:prstGeom prst="roundRect">
            <a:avLst/>
          </a:prstGeom>
          <a:solidFill>
            <a:srgbClr val="1C2739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2423160" cy="310896"/>
          </a:xfrm>
          <a:prstGeom prst="round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2423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8FAFD"/>
                </a:solidFill>
                <a:latin typeface="Droid Sans Fallback"/>
              </a:rPr>
              <a:t>计算编译器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965960"/>
            <a:ext cx="23774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E5ECF5"/>
                </a:solidFill>
                <a:latin typeface="Droid Sans Fallback"/>
              </a:rPr>
              <a:t>① tiling
② 计算流图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011680"/>
            <a:ext cx="365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8294AE"/>
                </a:solidFill>
                <a:latin typeface="Droid Sans Fallback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234440"/>
            <a:ext cx="2697480" cy="2331720"/>
          </a:xfrm>
          <a:prstGeom prst="roundRect">
            <a:avLst/>
          </a:prstGeom>
          <a:solidFill>
            <a:srgbClr val="1C2739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66160" y="1417320"/>
            <a:ext cx="2423160" cy="310896"/>
          </a:xfrm>
          <a:prstGeom prst="roundRect">
            <a:avLst/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417320"/>
            <a:ext cx="2423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8FAFD"/>
                </a:solidFill>
                <a:latin typeface="Droid Sans Fallback"/>
              </a:rPr>
              <a:t>机械推导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1965960"/>
            <a:ext cx="23774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E5ECF5"/>
                </a:solidFill>
                <a:latin typeface="Droid Sans Fallback"/>
              </a:rPr>
              <a:t>produce 边必须有
dur 仅离线可选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011680"/>
            <a:ext cx="365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8294AE"/>
                </a:solidFill>
                <a:latin typeface="Droid Sans Fallback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1234440"/>
            <a:ext cx="2697480" cy="2331720"/>
          </a:xfrm>
          <a:prstGeom prst="roundRect">
            <a:avLst/>
          </a:prstGeom>
          <a:solidFill>
            <a:srgbClr val="1C2739"/>
          </a:solidFill>
          <a:ln>
            <a:solidFill>
              <a:srgbClr val="21B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92240" y="1417320"/>
            <a:ext cx="2423160" cy="310896"/>
          </a:xfrm>
          <a:prstGeom prst="roundRect">
            <a:avLst/>
          </a:prstGeom>
          <a:solidFill>
            <a:srgbClr val="21B573"/>
          </a:solidFill>
          <a:ln>
            <a:solidFill>
              <a:srgbClr val="21B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417320"/>
            <a:ext cx="2423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8FAFD"/>
                </a:solidFill>
                <a:latin typeface="Droid Sans Fallback"/>
              </a:rPr>
              <a:t>通信 MILP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1965960"/>
            <a:ext cx="23774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E5ECF5"/>
                </a:solidFill>
                <a:latin typeface="Droid Sans Fallback"/>
              </a:rPr>
              <a:t>离线搜结构
打包 / 链路 / VT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011680"/>
            <a:ext cx="365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8294AE"/>
                </a:solidFill>
                <a:latin typeface="Droid Sans Fallback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81160" y="1234440"/>
            <a:ext cx="2697480" cy="2331720"/>
          </a:xfrm>
          <a:prstGeom prst="roundRect">
            <a:avLst/>
          </a:prstGeom>
          <a:solidFill>
            <a:srgbClr val="1C2739"/>
          </a:solidFill>
          <a:ln>
            <a:solidFill>
              <a:srgbClr val="25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418320" y="1417320"/>
            <a:ext cx="2423160" cy="310896"/>
          </a:xfrm>
          <a:prstGeom prst="roundRect">
            <a:avLst/>
          </a:prstGeom>
          <a:solidFill>
            <a:srgbClr val="25C8DD"/>
          </a:solidFill>
          <a:ln>
            <a:solidFill>
              <a:srgbClr val="25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0" y="1417320"/>
            <a:ext cx="2423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8FAFD"/>
                </a:solidFill>
                <a:latin typeface="Droid Sans Fallback"/>
              </a:rPr>
              <a:t>运行时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45752" y="1965960"/>
            <a:ext cx="23774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E5ECF5"/>
                </a:solidFill>
                <a:latin typeface="Droid Sans Fallback"/>
              </a:rPr>
              <a:t>等写完事件再发
无启动时刻表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840480"/>
            <a:ext cx="10972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5ECF5"/>
                </a:solidFill>
                <a:latin typeface="Droid Sans Fallback"/>
              </a:defRPr>
            </a:pPr>
            <a:r>
              <a:t>•  求解器可以决定：走哪条链路、哪个 VT、由哪个计算完成事件触发</a:t>
            </a:r>
          </a:p>
          <a:p>
            <a:pPr>
              <a:spcAft>
                <a:spcPts val="800"/>
              </a:spcAft>
              <a:defRPr sz="1500">
                <a:solidFill>
                  <a:srgbClr val="E5ECF5"/>
                </a:solidFill>
                <a:latin typeface="Droid Sans Fallback"/>
              </a:defRPr>
            </a:pPr>
            <a:r>
              <a:t>•  求解器不可以决定：切块长宽、计算顺序、以及内核里的通信启动时刻</a:t>
            </a:r>
          </a:p>
          <a:p>
            <a:pPr>
              <a:spcAft>
                <a:spcPts val="800"/>
              </a:spcAft>
              <a:defRPr sz="1500">
                <a:solidFill>
                  <a:srgbClr val="E5ECF5"/>
                </a:solidFill>
                <a:latin typeface="Droid Sans Fallback"/>
              </a:defRPr>
            </a:pPr>
            <a:r>
              <a:t>•  写完就发且 Ring/VT 已定时：连 MILP 都可以不做，只要 produce 边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349240"/>
            <a:ext cx="11109960" cy="960120"/>
          </a:xfrm>
          <a:prstGeom prst="roundRect">
            <a:avLst/>
          </a:prstGeom>
          <a:solidFill>
            <a:srgbClr val="3A3016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5404103"/>
            <a:ext cx="10853928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5ECF5"/>
                </a:solidFill>
                <a:latin typeface="Droid Sans Fallback"/>
              </a:rPr>
              <a:t>背景  和上一页合起来：扩展的是「数据必须先算完再发」这条边。估时只为离线比较结构，不写进内核当闹钟。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9144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5C8DD"/>
                </a:solidFill>
                <a:latin typeface="Droid Sans Fallback"/>
              </a:rPr>
              <a:t>编译器接口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11064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8FAFD"/>
                </a:solidFill>
                <a:latin typeface="Droid Sans Fallback"/>
              </a:rPr>
              <a:t>两份输入分别回答什么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50976"/>
            <a:ext cx="914400" cy="41148"/>
          </a:xfrm>
          <a:prstGeom prst="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8294AE"/>
                </a:solidFill>
                <a:latin typeface="Droid Sans Fallback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70432"/>
            <a:ext cx="5532120" cy="324612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170432"/>
            <a:ext cx="64008" cy="3246120"/>
          </a:xfrm>
          <a:prstGeom prst="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61872"/>
            <a:ext cx="523951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Droid Sans Fallback"/>
              </a:rPr>
              <a:t>tiling = 空间怎么切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09344"/>
            <a:ext cx="5202936" cy="2697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5ECF5"/>
                </a:solidFill>
                <a:latin typeface="Droid Sans Fallback"/>
              </a:rPr>
              <a:t>Y 切成多少个 C-tile、每块多大
沿 K 要折几次才写完一块
循环先走哪一维、一拍并几块
写到内存后过多久通信才看得见
没有「第 3 块几点钟出炉」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170432"/>
            <a:ext cx="5349240" cy="324612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170432"/>
            <a:ext cx="64008" cy="3246120"/>
          </a:xfrm>
          <a:prstGeom prst="rect">
            <a:avLst/>
          </a:prstGeom>
          <a:solidFill>
            <a:srgbClr val="21B573"/>
          </a:solidFill>
          <a:ln>
            <a:solidFill>
              <a:srgbClr val="21B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261872"/>
            <a:ext cx="5056631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Droid Sans Fallback"/>
              </a:rPr>
              <a:t>计算流图 = 这些块何时算完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609344"/>
            <a:ext cx="5020055" cy="2697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5ECF5"/>
                </a:solidFill>
                <a:latin typeface="Droid Sans Fallback"/>
              </a:rPr>
              <a:t>节点 = 上面那些 C-tile（同一套编号）
边 = 已排好的计算顺序
每节点做多久
没有「几块拼成一次 AllReduce 的一包」
那是切块网格上的简单合并规则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617720"/>
            <a:ext cx="11109960" cy="1280160"/>
          </a:xfrm>
          <a:prstGeom prst="roundRect">
            <a:avLst/>
          </a:prstGeom>
          <a:solidFill>
            <a:srgbClr val="3A3016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4672583"/>
            <a:ext cx="10853928" cy="11704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5ECF5"/>
                </a:solidFill>
                <a:latin typeface="Droid Sans Fallback"/>
              </a:rPr>
              <a:t>背景  只有 tiling：知道切成哪些块，不知道何时有货。只有流图：知道何时算完哪块，不知道通信按几块打一包。所以两份都要，但各自只答一件事。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9144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5C8DD"/>
                </a:solidFill>
                <a:latin typeface="Droid Sans Fallback"/>
              </a:rPr>
              <a:t>推导  /  避免重复输入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11064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8FAFD"/>
                </a:solidFill>
                <a:latin typeface="Droid Sans Fallback"/>
              </a:rPr>
              <a:t>不必再要第三份：有货时间和资源占用都能推出来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50976"/>
            <a:ext cx="914400" cy="41148"/>
          </a:xfrm>
          <a:prstGeom prst="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8294AE"/>
                </a:solidFill>
                <a:latin typeface="Droid Sans Fallback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15568"/>
            <a:ext cx="10972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E5ECF5"/>
                </a:solidFill>
                <a:latin typeface="Droid Sans Fallback"/>
              </a:rPr>
              <a:t>上一轮讨论里出现过 produce、占用时间轴。它们不是编译器另交的图，而是下面两个函数。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532120" cy="260604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64008" cy="2606040"/>
          </a:xfrm>
          <a:prstGeom prst="rect">
            <a:avLst/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523951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Droid Sans Fallback"/>
              </a:rPr>
              <a:t>何时有货 ready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93391"/>
            <a:ext cx="5202936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5ECF5"/>
                </a:solidFill>
                <a:latin typeface="Droid Sans Fallback"/>
              </a:rPr>
              <a:t>约定：连续若干个 C-tile 合成通信的一包
（默认同一块 C-tile 就是一包，最简单）
这一包的 ready = 其中最晚写完的那块
再加一个固定的写出延迟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554480"/>
            <a:ext cx="5349240" cy="260604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554480"/>
            <a:ext cx="64008" cy="2606040"/>
          </a:xfrm>
          <a:prstGeom prst="rect">
            <a:avLst/>
          </a:prstGeom>
          <a:solidFill>
            <a:srgbClr val="25C8DD"/>
          </a:solidFill>
          <a:ln>
            <a:solidFill>
              <a:srgbClr val="25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645920"/>
            <a:ext cx="5056631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Droid Sans Fallback"/>
              </a:rPr>
              <a:t>计算占了哪些资源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993391"/>
            <a:ext cx="5020055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5ECF5"/>
                </a:solidFill>
                <a:latin typeface="Droid Sans Fallback"/>
              </a:rPr>
              <a:t>每个 C-tile 带一份固定配额
（占几条计算单元、吃多少内存带宽）
按流图的起止时间扫一遍
就得到每个时刻还剩多少给通信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389120"/>
            <a:ext cx="11109960" cy="1508760"/>
          </a:xfrm>
          <a:prstGeom prst="roundRect">
            <a:avLst/>
          </a:prstGeom>
          <a:solidFill>
            <a:srgbClr val="3A3016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4443983"/>
            <a:ext cx="10853928" cy="13990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5ECF5"/>
                </a:solidFill>
                <a:latin typeface="Droid Sans Fallback"/>
              </a:rPr>
              <a:t>背景  若让编译器再手填一张「谁生产哪一包」的表，容易和切块网格不一致。规定「只能按 C-tile 整块合并」，表就是一个除法，检查对齐即可。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9144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5C8DD"/>
                </a:solidFill>
                <a:latin typeface="Droid Sans Fallback"/>
              </a:rPr>
              <a:t>合同一页纸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11064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8FAFD"/>
                </a:solidFill>
                <a:latin typeface="Droid Sans Fallback"/>
              </a:rPr>
              <a:t>求解器看见什么、交出什么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50976"/>
            <a:ext cx="914400" cy="41148"/>
          </a:xfrm>
          <a:prstGeom prst="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8294AE"/>
                </a:solidFill>
                <a:latin typeface="Droid Sans Fallback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70432"/>
            <a:ext cx="5532120" cy="306324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170432"/>
            <a:ext cx="64008" cy="3063240"/>
          </a:xfrm>
          <a:prstGeom prst="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61872"/>
            <a:ext cx="523951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Droid Sans Fallback"/>
              </a:rPr>
              <a:t>吃进去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09344"/>
            <a:ext cx="5202936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5ECF5"/>
                </a:solidFill>
                <a:latin typeface="Droid Sans Fallback"/>
              </a:rPr>
              <a:t>原来就有的：网络怎么连、链路多慢、
AllReduce、Ring/HD 怎么传
新加上的：tiling、计算流图
（以及切几块打一包、写出延迟两个数）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170432"/>
            <a:ext cx="5349240" cy="306324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170432"/>
            <a:ext cx="64008" cy="3063240"/>
          </a:xfrm>
          <a:prstGeom prst="rect">
            <a:avLst/>
          </a:prstGeom>
          <a:solidFill>
            <a:srgbClr val="21B573"/>
          </a:solidFill>
          <a:ln>
            <a:solidFill>
              <a:srgbClr val="21B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261872"/>
            <a:ext cx="5056631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Droid Sans Fallback"/>
              </a:rPr>
              <a:t>交出来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609344"/>
            <a:ext cx="5020055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5ECF5"/>
                </a:solidFill>
                <a:latin typeface="Droid Sans Fallback"/>
              </a:rPr>
              <a:t>结构：哪一包、走哪条路、挂在哪个写完事件上
保证：没有事件就绝不发
不交：墙上时钟启动点、新的切块、新的计算顺序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480560"/>
            <a:ext cx="11109960" cy="1417320"/>
          </a:xfrm>
          <a:prstGeom prst="roundRect">
            <a:avLst/>
          </a:prstGeom>
          <a:solidFill>
            <a:srgbClr val="3A3016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4535424"/>
            <a:ext cx="10853928" cy="1307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5ECF5"/>
                </a:solidFill>
                <a:latin typeface="Droid Sans Fallback"/>
              </a:rPr>
              <a:t>背景  离线目标函数可以用估时的总完成时间来比方案。比完之后微秒数丢掉，只把事件边和映射写进算子。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9144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5C8DD"/>
                </a:solidFill>
                <a:latin typeface="Droid Sans Fallback"/>
              </a:rPr>
              <a:t>直觉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11064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8FAFD"/>
                </a:solidFill>
                <a:latin typeface="Droid Sans Fallback"/>
              </a:rPr>
              <a:t>一张图看完数据怎么走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50976"/>
            <a:ext cx="914400" cy="41148"/>
          </a:xfrm>
          <a:prstGeom prst="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8294AE"/>
                </a:solidFill>
                <a:latin typeface="Droid Sans Fallback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80160"/>
            <a:ext cx="2606040" cy="2148840"/>
          </a:xfrm>
          <a:prstGeom prst="roundRect">
            <a:avLst/>
          </a:prstGeom>
          <a:solidFill>
            <a:srgbClr val="1C2739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17319" y="1463040"/>
            <a:ext cx="1051560" cy="310896"/>
          </a:xfrm>
          <a:prstGeom prst="round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19" y="1463040"/>
            <a:ext cx="10515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8FAFD"/>
                </a:solidFill>
                <a:latin typeface="Droid Sans Fallback"/>
              </a:rPr>
              <a:t>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65960"/>
            <a:ext cx="23317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E5ECF5"/>
                </a:solidFill>
                <a:latin typeface="Droid Sans Fallback"/>
              </a:rPr>
              <a:t>编译器把 Y
切成 C-tile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2057400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8294AE"/>
                </a:solidFill>
                <a:latin typeface="Droid Sans Fallback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39" y="1280160"/>
            <a:ext cx="2606040" cy="2148840"/>
          </a:xfrm>
          <a:prstGeom prst="roundRect">
            <a:avLst/>
          </a:prstGeom>
          <a:solidFill>
            <a:srgbClr val="1C2739"/>
          </a:solidFill>
          <a:ln>
            <a:solidFill>
              <a:srgbClr val="25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97679" y="1463040"/>
            <a:ext cx="1051560" cy="310896"/>
          </a:xfrm>
          <a:prstGeom prst="roundRect">
            <a:avLst/>
          </a:prstGeom>
          <a:solidFill>
            <a:srgbClr val="25C8DD"/>
          </a:solidFill>
          <a:ln>
            <a:solidFill>
              <a:srgbClr val="25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79" y="1463040"/>
            <a:ext cx="10515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8FAFD"/>
                </a:solidFill>
                <a:latin typeface="Droid Sans Fallback"/>
              </a:rPr>
              <a:t>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599" y="1965960"/>
            <a:ext cx="23317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E5ECF5"/>
                </a:solidFill>
                <a:latin typeface="Droid Sans Fallback"/>
              </a:rPr>
              <a:t>按流图一块块算
写完才算有货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057400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8294AE"/>
                </a:solidFill>
                <a:latin typeface="Droid Sans Fallback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280160"/>
            <a:ext cx="2606040" cy="2148840"/>
          </a:xfrm>
          <a:prstGeom prst="roundRect">
            <a:avLst/>
          </a:prstGeom>
          <a:solidFill>
            <a:srgbClr val="1C2739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178040" y="1463040"/>
            <a:ext cx="1051560" cy="310896"/>
          </a:xfrm>
          <a:prstGeom prst="roundRect">
            <a:avLst/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78040" y="1463040"/>
            <a:ext cx="10515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8FAFD"/>
                </a:solidFill>
                <a:latin typeface="Droid Sans Fallback"/>
              </a:rPr>
              <a:t>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1965960"/>
            <a:ext cx="23317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E5ECF5"/>
                </a:solidFill>
                <a:latin typeface="Droid Sans Fallback"/>
              </a:rPr>
              <a:t>写完事件一到
立刻 post 这一包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2057400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8294AE"/>
                </a:solidFill>
                <a:latin typeface="Droid Sans Fallback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81159" y="1280160"/>
            <a:ext cx="2606040" cy="2148840"/>
          </a:xfrm>
          <a:prstGeom prst="roundRect">
            <a:avLst/>
          </a:prstGeom>
          <a:solidFill>
            <a:srgbClr val="1C2739"/>
          </a:solidFill>
          <a:ln>
            <a:solidFill>
              <a:srgbClr val="21B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058399" y="1463040"/>
            <a:ext cx="1051560" cy="310896"/>
          </a:xfrm>
          <a:prstGeom prst="roundRect">
            <a:avLst/>
          </a:prstGeom>
          <a:solidFill>
            <a:srgbClr val="21B573"/>
          </a:solidFill>
          <a:ln>
            <a:solidFill>
              <a:srgbClr val="21B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399" y="1463040"/>
            <a:ext cx="10515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8FAFD"/>
                </a:solidFill>
                <a:latin typeface="Droid Sans Fallback"/>
              </a:rPr>
              <a:t>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19" y="1965960"/>
            <a:ext cx="23317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E5ECF5"/>
                </a:solidFill>
                <a:latin typeface="Droid Sans Fallback"/>
              </a:rPr>
              <a:t>所有包加总完成
每张卡都有完整 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703320"/>
            <a:ext cx="10972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5ECF5"/>
                </a:solidFill>
                <a:latin typeface="Droid Sans Fallback"/>
              </a:defRPr>
            </a:pPr>
            <a:r>
              <a:t>•  「切」和「算」的规则来自计算编译器，开会前就定死</a:t>
            </a:r>
          </a:p>
          <a:p>
            <a:pPr>
              <a:spcAft>
                <a:spcPts val="800"/>
              </a:spcAft>
              <a:defRPr sz="1600">
                <a:solidFill>
                  <a:srgbClr val="E5ECF5"/>
                </a:solidFill>
                <a:latin typeface="Droid Sans Fallback"/>
              </a:defRPr>
            </a:pPr>
            <a:r>
              <a:t>•  「叠」是挂事件：写完才发。不要下降成启动时刻表</a:t>
            </a:r>
          </a:p>
          <a:p>
            <a:pPr>
              <a:spcAft>
                <a:spcPts val="800"/>
              </a:spcAft>
              <a:defRPr sz="1600">
                <a:solidFill>
                  <a:srgbClr val="E5ECF5"/>
                </a:solidFill>
                <a:latin typeface="Droid Sans Fallback"/>
              </a:defRPr>
            </a:pPr>
            <a:r>
              <a:t>•  任何试图在「叠」里改「切」的方案，都退回上一页的不建议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120640"/>
            <a:ext cx="11109960" cy="1188720"/>
          </a:xfrm>
          <a:prstGeom prst="roundRect">
            <a:avLst/>
          </a:prstGeom>
          <a:solidFill>
            <a:srgbClr val="3A3016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5175503"/>
            <a:ext cx="10853928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5ECF5"/>
                </a:solidFill>
                <a:latin typeface="Droid Sans Fallback"/>
              </a:rPr>
              <a:t>背景  验收很好懂：融合后的总时间，应明显短于「先算完再 AllReduce」；且数值与两阶段结果一致（加法顺序若要求确定，邻居关系必须冻住）。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9144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5C8DD"/>
                </a:solidFill>
                <a:latin typeface="Droid Sans Fallback"/>
              </a:rPr>
              <a:t>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11064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8FAFD"/>
                </a:solidFill>
                <a:latin typeface="Droid Sans Fallback"/>
              </a:rPr>
              <a:t>明确不做，避免范围膨胀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50976"/>
            <a:ext cx="914400" cy="41148"/>
          </a:xfrm>
          <a:prstGeom prst="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8294AE"/>
                </a:solidFill>
                <a:latin typeface="Droid Sans Fallback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70432"/>
            <a:ext cx="3063240" cy="310896"/>
          </a:xfrm>
          <a:prstGeom prst="roundRect">
            <a:avLst/>
          </a:prstGeom>
          <a:solidFill>
            <a:srgbClr val="E14848"/>
          </a:solidFill>
          <a:ln>
            <a:solidFill>
              <a:srgbClr val="E1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70432"/>
            <a:ext cx="3063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8FAFD"/>
                </a:solidFill>
                <a:latin typeface="Droid Sans Fallback"/>
              </a:rPr>
              <a:t>不搜切块长宽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170432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E5ECF5"/>
                </a:solidFill>
                <a:latin typeface="Droid Sans Fallback"/>
              </a:rPr>
              <a:t>交给 Triton / AscendC / 手工 kernel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947672"/>
            <a:ext cx="3063240" cy="310896"/>
          </a:xfrm>
          <a:prstGeom prst="roundRect">
            <a:avLst/>
          </a:prstGeom>
          <a:solidFill>
            <a:srgbClr val="E14848"/>
          </a:solidFill>
          <a:ln>
            <a:solidFill>
              <a:srgbClr val="E1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47672"/>
            <a:ext cx="3063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8FAFD"/>
                </a:solidFill>
                <a:latin typeface="Droid Sans Fallback"/>
              </a:rPr>
              <a:t>不重排计算顺序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947672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E5ECF5"/>
                </a:solidFill>
                <a:latin typeface="Droid Sans Fallback"/>
              </a:rPr>
              <a:t>改顺序就是改矩阵乘实现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724912"/>
            <a:ext cx="3063240" cy="310896"/>
          </a:xfrm>
          <a:prstGeom prst="roundRect">
            <a:avLst/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724912"/>
            <a:ext cx="3063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8FAFD"/>
                </a:solidFill>
                <a:latin typeface="Droid Sans Fallback"/>
              </a:rPr>
              <a:t>不把激活挪过 AllReduce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724912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E5ECF5"/>
                </a:solidFill>
                <a:latin typeface="Droid Sans Fallback"/>
              </a:rPr>
              <a:t>会改数值，必须事先钉死在前或在后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502152"/>
            <a:ext cx="3063240" cy="310896"/>
          </a:xfrm>
          <a:prstGeom prst="roundRect">
            <a:avLst/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502152"/>
            <a:ext cx="3063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8FAFD"/>
                </a:solidFill>
                <a:latin typeface="Droid Sans Fallback"/>
              </a:rPr>
              <a:t>不把启动时刻写进内核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502152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E5ECF5"/>
                </a:solidFill>
                <a:latin typeface="Droid Sans Fallback"/>
              </a:rPr>
              <a:t>运行时只认写完事件；估时不准是必然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279392"/>
            <a:ext cx="3063240" cy="310896"/>
          </a:xfrm>
          <a:prstGeom prst="roundRect">
            <a:avLst/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279392"/>
            <a:ext cx="3063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8FAFD"/>
                </a:solidFill>
                <a:latin typeface="Droid Sans Fallback"/>
              </a:rPr>
              <a:t>不把「试几套切块」塞进同一个方程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4279392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E5ECF5"/>
                </a:solidFill>
                <a:latin typeface="Droid Sans Fallback"/>
              </a:rPr>
              <a:t>外层试 3～5 套，每套单独求一次通信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9144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5C8DD"/>
                </a:solidFill>
                <a:latin typeface="Droid Sans Fallback"/>
              </a:rPr>
              <a:t>决策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11064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8FAFD"/>
                </a:solidFill>
                <a:latin typeface="Droid Sans Fallback"/>
              </a:rPr>
              <a:t>建议与下一步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50976"/>
            <a:ext cx="914400" cy="41148"/>
          </a:xfrm>
          <a:prstGeom prst="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8294AE"/>
                </a:solidFill>
                <a:latin typeface="Droid Sans Fallback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8FAFD"/>
                </a:solidFill>
                <a:latin typeface="Droid Sans Fallback"/>
              </a:rPr>
              <a:t>立项口径：运行时只加「写完才发」的依赖；估时仅离线选打包/VT。切块仍由计算编译器给定，启动时刻不进内核。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2697480" cy="2331720"/>
          </a:xfrm>
          <a:prstGeom prst="roundRect">
            <a:avLst/>
          </a:prstGeom>
          <a:solidFill>
            <a:srgbClr val="1C2739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2176272"/>
            <a:ext cx="502920" cy="310896"/>
          </a:xfrm>
          <a:prstGeom prst="round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176272"/>
            <a:ext cx="5029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8FAFD"/>
                </a:solidFill>
                <a:latin typeface="Droid Sans Fallback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97480"/>
            <a:ext cx="2331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Droid Sans Fallback"/>
              </a:rPr>
              <a:t>冻结接口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54680"/>
            <a:ext cx="23317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5ECF5"/>
                </a:solidFill>
                <a:latin typeface="Droid Sans Fallback"/>
              </a:rPr>
              <a:t>tiling + produce 边
必给；dur 仅离线可选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2011680"/>
            <a:ext cx="2697480" cy="2331720"/>
          </a:xfrm>
          <a:prstGeom prst="roundRect">
            <a:avLst/>
          </a:prstGeom>
          <a:solidFill>
            <a:srgbClr val="1C2739"/>
          </a:solidFill>
          <a:ln>
            <a:solidFill>
              <a:srgbClr val="25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93592" y="2176272"/>
            <a:ext cx="502920" cy="310896"/>
          </a:xfrm>
          <a:prstGeom prst="roundRect">
            <a:avLst/>
          </a:prstGeom>
          <a:solidFill>
            <a:srgbClr val="25C8DD"/>
          </a:solidFill>
          <a:ln>
            <a:solidFill>
              <a:srgbClr val="25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93592" y="2176272"/>
            <a:ext cx="5029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8FAFD"/>
                </a:solidFill>
                <a:latin typeface="Droid Sans Fallback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697480"/>
            <a:ext cx="2331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Droid Sans Fallback"/>
              </a:rPr>
              <a:t>最小内核改动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3154680"/>
            <a:ext cx="23317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5ECF5"/>
                </a:solidFill>
                <a:latin typeface="Droid Sans Fallback"/>
              </a:rPr>
              <a:t>挂写完事件再 post
禁止定时器启动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59" y="2011680"/>
            <a:ext cx="2697480" cy="2331720"/>
          </a:xfrm>
          <a:prstGeom prst="roundRect">
            <a:avLst/>
          </a:prstGeom>
          <a:solidFill>
            <a:srgbClr val="1C2739"/>
          </a:solidFill>
          <a:ln>
            <a:solidFill>
              <a:srgbClr val="21B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73951" y="2176272"/>
            <a:ext cx="502920" cy="310896"/>
          </a:xfrm>
          <a:prstGeom prst="roundRect">
            <a:avLst/>
          </a:prstGeom>
          <a:solidFill>
            <a:srgbClr val="21B573"/>
          </a:solidFill>
          <a:ln>
            <a:solidFill>
              <a:srgbClr val="21B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1" y="2176272"/>
            <a:ext cx="5029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8FAFD"/>
                </a:solidFill>
                <a:latin typeface="Droid Sans Fallback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697480"/>
            <a:ext cx="2331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Droid Sans Fallback"/>
              </a:rPr>
              <a:t>先冻通信算法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154680"/>
            <a:ext cx="23317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5ECF5"/>
                </a:solidFill>
                <a:latin typeface="Droid Sans Fallback"/>
              </a:rPr>
              <a:t>Ring/HD、写完就发
无选择时不做 MILP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89719" y="2011680"/>
            <a:ext cx="2697480" cy="2331720"/>
          </a:xfrm>
          <a:prstGeom prst="roundRect">
            <a:avLst/>
          </a:prstGeom>
          <a:solidFill>
            <a:srgbClr val="1C2739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354311" y="2176272"/>
            <a:ext cx="502920" cy="310896"/>
          </a:xfrm>
          <a:prstGeom prst="roundRect">
            <a:avLst/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54311" y="2176272"/>
            <a:ext cx="5029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8FAFD"/>
                </a:solidFill>
                <a:latin typeface="Droid Sans Fallback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599" y="2697480"/>
            <a:ext cx="2331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Droid Sans Fallback"/>
              </a:rPr>
              <a:t>用总时间验收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599" y="3154680"/>
            <a:ext cx="23317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5ECF5"/>
                </a:solidFill>
                <a:latin typeface="Droid Sans Fallback"/>
              </a:rPr>
              <a:t>对比两阶段基线
数值必须一致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617720"/>
            <a:ext cx="11109960" cy="1280160"/>
          </a:xfrm>
          <a:prstGeom prst="roundRect">
            <a:avLst/>
          </a:prstGeom>
          <a:solidFill>
            <a:srgbClr val="3A3016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" y="4672583"/>
            <a:ext cx="10853928" cy="11704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5ECF5"/>
                </a:solidFill>
                <a:latin typeface="Droid Sans Fallback"/>
              </a:rPr>
              <a:t>背景  详细合同见 docs/fusion_milp_input.md 第 11 节。切块归计算编译器；运行时只认写完事件；时钟不进内核。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9144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5C8DD"/>
                </a:solidFill>
                <a:latin typeface="Droid Sans Fallback"/>
              </a:rPr>
              <a:t>备忘  /  可留在材料最后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11064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8FAFD"/>
                </a:solidFill>
                <a:latin typeface="Droid Sans Fallback"/>
              </a:rPr>
              <a:t>附录：一分钟对照表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50976"/>
            <a:ext cx="914400" cy="41148"/>
          </a:xfrm>
          <a:prstGeom prst="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8294AE"/>
                </a:solidFill>
                <a:latin typeface="Droid Sans Fallback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60704"/>
            <a:ext cx="301752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5C8DD"/>
                </a:solidFill>
                <a:latin typeface="Droid Sans Fallback"/>
              </a:rPr>
              <a:t>GEMM / MM / Linear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1060704"/>
            <a:ext cx="77724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5ECF5"/>
                </a:solidFill>
                <a:latin typeface="Droid Sans Fallback"/>
              </a:rPr>
              <a:t>矩阵乘 Y = XW，大模型最重的计算之一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01752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5C8DD"/>
                </a:solidFill>
                <a:latin typeface="Droid Sans Fallback"/>
              </a:rPr>
              <a:t>AllReduce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554480"/>
            <a:ext cx="77724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5ECF5"/>
                </a:solidFill>
                <a:latin typeface="Droid Sans Fallback"/>
              </a:rPr>
              <a:t>多卡各持一份数，结束时每卡都有总和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48256"/>
            <a:ext cx="301752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5C8DD"/>
                </a:solidFill>
                <a:latin typeface="Droid Sans Fallback"/>
              </a:rPr>
              <a:t>tiling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048256"/>
            <a:ext cx="77724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5ECF5"/>
                </a:solidFill>
                <a:latin typeface="Droid Sans Fallback"/>
              </a:rPr>
              <a:t>把大矩阵切成小矩形（C-tile）以便放进片上缓存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42032"/>
            <a:ext cx="301752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5C8DD"/>
                </a:solidFill>
                <a:latin typeface="Droid Sans Fallback"/>
              </a:rPr>
              <a:t>计算流图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542032"/>
            <a:ext cx="77724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5ECF5"/>
                </a:solidFill>
                <a:latin typeface="Droid Sans Fallback"/>
              </a:rPr>
              <a:t>这些 C-tile 的发射顺序；耗时 dur 由代价模型事先填入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035808"/>
            <a:ext cx="301752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5C8DD"/>
                </a:solidFill>
                <a:latin typeface="Droid Sans Fallback"/>
              </a:rPr>
              <a:t>屋顶线 / dur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3035808"/>
            <a:ext cx="77724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5ECF5"/>
                </a:solidFill>
                <a:latin typeface="Droid Sans Fallback"/>
              </a:rPr>
              <a:t>算的时间和搬的时间取较慢边；本例每块 dur=10 μs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529584"/>
            <a:ext cx="301752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5C8DD"/>
                </a:solidFill>
                <a:latin typeface="Droid Sans Fallback"/>
              </a:rPr>
              <a:t>MILP 综合器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3529584"/>
            <a:ext cx="77724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5ECF5"/>
                </a:solidFill>
                <a:latin typeface="Droid Sans Fallback"/>
              </a:rPr>
              <a:t>离线搜通信结构；输出下降成事件边，不是闹钟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023360"/>
            <a:ext cx="301752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5C8DD"/>
                </a:solidFill>
                <a:latin typeface="Droid Sans Fallback"/>
              </a:rPr>
              <a:t>融合算子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4023360"/>
            <a:ext cx="77724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5ECF5"/>
                </a:solidFill>
                <a:latin typeface="Droid Sans Fallback"/>
              </a:rPr>
              <a:t>同一段内核里边算矩阵乘边做 AllReduce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517136"/>
            <a:ext cx="301752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5C8DD"/>
                </a:solidFill>
                <a:latin typeface="Droid Sans Fallback"/>
              </a:rPr>
              <a:t>produce 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4517136"/>
            <a:ext cx="77724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5ECF5"/>
                </a:solidFill>
                <a:latin typeface="Droid Sans Fallback"/>
              </a:rPr>
              <a:t>这些 C-tile 写完才允许发对应一包（运行时硬约束）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010912"/>
            <a:ext cx="301752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5C8DD"/>
                </a:solidFill>
                <a:latin typeface="Droid Sans Fallback"/>
              </a:rPr>
              <a:t>ready 估时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5010912"/>
            <a:ext cx="77724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5ECF5"/>
                </a:solidFill>
                <a:latin typeface="Droid Sans Fallback"/>
              </a:rPr>
              <a:t>离线用的数字；运行时不读。不准是必然，只影响是否选到最优结构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504688"/>
            <a:ext cx="301752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5C8DD"/>
                </a:solidFill>
                <a:latin typeface="Droid Sans Fallback"/>
              </a:rPr>
              <a:t>Ring / HD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5504688"/>
            <a:ext cx="77724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5ECF5"/>
                </a:solidFill>
                <a:latin typeface="Droid Sans Fallback"/>
              </a:rPr>
              <a:t>AllReduce 的两种经典传法；本方案建议给定、不搜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融合算子自动生成 MM+AllReduce</dc:title>
  <dc:subject>领导汇报：计算编译器给定切块与流图，MILP 只编通信</dc:subject>
  <dc:creator>Cursor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
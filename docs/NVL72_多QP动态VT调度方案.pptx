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66CFF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1508760" cy="347472"/>
          </a:xfrm>
          <a:prstGeom prst="roundRect">
            <a:avLst/>
          </a:prstGeom>
          <a:solidFill>
            <a:srgbClr val="25C8DD"/>
          </a:solidFill>
          <a:ln>
            <a:solidFill>
              <a:srgbClr val="25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66928"/>
            <a:ext cx="15087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8FAFD"/>
                </a:solidFill>
                <a:latin typeface="Microsoft YaHei"/>
              </a:rPr>
              <a:t>架构设计汇报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6858000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8FAFD"/>
                </a:solidFill>
                <a:latin typeface="Microsoft YaHei"/>
              </a:rPr>
              <a:t>NVL72 多 QP
动态 VT 调度方案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944368"/>
            <a:ext cx="65836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E5ECF5"/>
                </a:solidFill>
                <a:latin typeface="Microsoft YaHei"/>
              </a:rPr>
              <a:t>非 Spectrum 以太网络下的流级多路径、PReCCL 式字节重分配与跨 Rail PXN 绕路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960120"/>
            <a:ext cx="3566160" cy="4434840"/>
          </a:xfrm>
          <a:prstGeom prst="roundRect">
            <a:avLst/>
          </a:prstGeom>
          <a:solidFill>
            <a:srgbClr val="1C2739"/>
          </a:solidFill>
          <a:ln>
            <a:solidFill>
              <a:srgbClr val="33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366760" y="1536192"/>
            <a:ext cx="1143000" cy="347472"/>
          </a:xfrm>
          <a:prstGeom prst="roundRect">
            <a:avLst/>
          </a:prstGeom>
          <a:solidFill>
            <a:srgbClr val="266CFF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66760" y="1536192"/>
            <a:ext cx="11430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8FAFD"/>
                </a:solidFill>
                <a:latin typeface="Microsoft YaHei"/>
              </a:rPr>
              <a:t>QP / VT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555480" y="1709928"/>
            <a:ext cx="1188720" cy="0"/>
          </a:xfrm>
          <a:prstGeom prst="line">
            <a:avLst/>
          </a:prstGeom>
          <a:ln w="50800">
            <a:solidFill>
              <a:srgbClr val="266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366760" y="2651760"/>
            <a:ext cx="1143000" cy="347472"/>
          </a:xfrm>
          <a:prstGeom prst="roundRect">
            <a:avLst/>
          </a:prstGeom>
          <a:solidFill>
            <a:srgbClr val="25C8DD"/>
          </a:solidFill>
          <a:ln>
            <a:solidFill>
              <a:srgbClr val="25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2651760"/>
            <a:ext cx="11430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8FAFD"/>
                </a:solidFill>
                <a:latin typeface="Microsoft YaHei"/>
              </a:rPr>
              <a:t>RAIL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555480" y="2825496"/>
            <a:ext cx="1188720" cy="0"/>
          </a:xfrm>
          <a:prstGeom prst="line">
            <a:avLst/>
          </a:prstGeom>
          <a:ln w="50800">
            <a:solidFill>
              <a:srgbClr val="25C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366760" y="3767328"/>
            <a:ext cx="1143000" cy="347472"/>
          </a:xfrm>
          <a:prstGeom prst="roundRect">
            <a:avLst/>
          </a:prstGeom>
          <a:solidFill>
            <a:srgbClr val="21B573"/>
          </a:solidFill>
          <a:ln>
            <a:solidFill>
              <a:srgbClr val="21B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3767328"/>
            <a:ext cx="11430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8FAFD"/>
                </a:solidFill>
                <a:latin typeface="Microsoft YaHei"/>
              </a:rPr>
              <a:t>PXN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555480" y="3941064"/>
            <a:ext cx="1188720" cy="0"/>
          </a:xfrm>
          <a:prstGeom prst="line">
            <a:avLst/>
          </a:prstGeom>
          <a:ln w="50800">
            <a:solidFill>
              <a:srgbClr val="21B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339327" y="4681728"/>
            <a:ext cx="24231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8FAFD"/>
                </a:solidFill>
                <a:latin typeface="Microsoft YaHei"/>
              </a:rPr>
              <a:t>先换 PATH
再换 RAIL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6144768"/>
            <a:ext cx="3657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8294AE"/>
                </a:solidFill>
                <a:latin typeface="Microsoft YaHei"/>
              </a:rPr>
              <a:t>技术方案 v1.0  |  2026-09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4572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25C8DD"/>
                </a:solidFill>
                <a:latin typeface="Microsoft YaHei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8FAFD"/>
                </a:solidFill>
                <a:latin typeface="Microsoft YaHei"/>
              </a:rPr>
              <a:t>结论先行：可行，但目标不是复刻 Spectrum-X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60704"/>
            <a:ext cx="914400" cy="45720"/>
          </a:xfrm>
          <a:prstGeom prst="rect">
            <a:avLst/>
          </a:prstGeom>
          <a:solidFill>
            <a:srgbClr val="266CFF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64808"/>
            <a:ext cx="3657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8294AE"/>
                </a:solidFill>
                <a:latin typeface="Microsoft YaHei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429000" cy="1874519"/>
          </a:xfrm>
          <a:prstGeom prst="roundRect">
            <a:avLst/>
          </a:prstGeom>
          <a:solidFill>
            <a:srgbClr val="1C2739"/>
          </a:solidFill>
          <a:ln>
            <a:solidFill>
              <a:srgbClr val="33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64008" cy="1874519"/>
          </a:xfrm>
          <a:prstGeom prst="rect">
            <a:avLst/>
          </a:prstGeom>
          <a:solidFill>
            <a:srgbClr val="21B573"/>
          </a:solidFill>
          <a:ln>
            <a:solidFill>
              <a:srgbClr val="21B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527048"/>
            <a:ext cx="3108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AFD"/>
                </a:solidFill>
                <a:latin typeface="Microsoft YaHei"/>
              </a:rPr>
              <a:t>可以实现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901952"/>
            <a:ext cx="3081528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5ECF5"/>
                </a:solidFill>
                <a:latin typeface="Microsoft YaHei"/>
              </a:rPr>
              <a:t>保序 RoCE 上的流级多路径
按运行时拥塞动态改变各 VT 字节份额
部分故障时隔离慢/坏 QP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417320"/>
            <a:ext cx="3429000" cy="1874519"/>
          </a:xfrm>
          <a:prstGeom prst="roundRect">
            <a:avLst/>
          </a:prstGeom>
          <a:solidFill>
            <a:srgbClr val="1C2739"/>
          </a:solidFill>
          <a:ln>
            <a:solidFill>
              <a:srgbClr val="33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417320"/>
            <a:ext cx="64008" cy="1874519"/>
          </a:xfrm>
          <a:prstGeom prst="rect">
            <a:avLst/>
          </a:prstGeom>
          <a:solidFill>
            <a:srgbClr val="E14848"/>
          </a:solidFill>
          <a:ln>
            <a:solidFill>
              <a:srgbClr val="E1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527048"/>
            <a:ext cx="3108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AFD"/>
                </a:solidFill>
                <a:latin typeface="Microsoft YaHei"/>
              </a:rPr>
              <a:t>不能替代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901952"/>
            <a:ext cx="3081528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5ECF5"/>
                </a:solidFill>
                <a:latin typeface="Microsoft YaHei"/>
              </a:rPr>
              <a:t>逐包自适应路由
乱序接收与重排
选择性重传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1583" y="1417320"/>
            <a:ext cx="3429000" cy="1874519"/>
          </a:xfrm>
          <a:prstGeom prst="roundRect">
            <a:avLst/>
          </a:prstGeom>
          <a:solidFill>
            <a:srgbClr val="1C2739"/>
          </a:solidFill>
          <a:ln>
            <a:solidFill>
              <a:srgbClr val="33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01583" y="1417320"/>
            <a:ext cx="64008" cy="1874519"/>
          </a:xfrm>
          <a:prstGeom prst="rect">
            <a:avLst/>
          </a:prstGeom>
          <a:solidFill>
            <a:srgbClr val="266CFF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1527048"/>
            <a:ext cx="3108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AFD"/>
                </a:solidFill>
                <a:latin typeface="Microsoft YaHei"/>
              </a:rPr>
              <a:t>设计原则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1901952"/>
            <a:ext cx="3081528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5ECF5"/>
                </a:solidFill>
                <a:latin typeface="Microsoft YaHei"/>
              </a:rPr>
              <a:t>VT = Channel = QP
每 Rail 保留多个可调 VT
先 Rail 内换路径，Incast 再跨 Rail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913632"/>
            <a:ext cx="1371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5C8DD"/>
                </a:solidFill>
                <a:latin typeface="Microsoft YaHei"/>
              </a:rPr>
              <a:t>推荐起点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343400"/>
            <a:ext cx="10835640" cy="1143000"/>
          </a:xfrm>
          <a:prstGeom prst="roundRect">
            <a:avLst/>
          </a:prstGeom>
          <a:solidFill>
            <a:srgbClr val="133153"/>
          </a:solidFill>
          <a:ln>
            <a:solidFill>
              <a:srgbClr val="133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526280"/>
            <a:ext cx="29260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>
                <a:solidFill>
                  <a:srgbClr val="F8FAFD"/>
                </a:solidFill>
                <a:latin typeface="Microsoft YaHei"/>
              </a:rPr>
              <a:t>8 VT = 4 Rail × 2 QP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41648" y="4526280"/>
            <a:ext cx="25146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25C8DD"/>
                </a:solidFill>
                <a:latin typeface="Microsoft YaHei"/>
              </a:rPr>
              <a:t>L1  Rail 内重分配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9672" y="4526280"/>
            <a:ext cx="3200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8294AE"/>
                </a:solidFill>
                <a:latin typeface="Microsoft YaHei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1152" y="4526280"/>
            <a:ext cx="29260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21B573"/>
                </a:solidFill>
                <a:latin typeface="Microsoft YaHei"/>
              </a:rPr>
              <a:t>L2  跨 Rail + PXN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4572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25C8DD"/>
                </a:solidFill>
                <a:latin typeface="Microsoft YaHei"/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8FAFD"/>
                </a:solidFill>
                <a:latin typeface="Microsoft YaHei"/>
              </a:rPr>
              <a:t>问题背景：非 Spectrum 环境缺少逐包闭环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60704"/>
            <a:ext cx="914400" cy="45720"/>
          </a:xfrm>
          <a:prstGeom prst="rect">
            <a:avLst/>
          </a:prstGeom>
          <a:solidFill>
            <a:srgbClr val="266CFF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64808"/>
            <a:ext cx="3657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8294AE"/>
                </a:solidFill>
                <a:latin typeface="Microsoft YaHe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383280" cy="2148840"/>
          </a:xfrm>
          <a:prstGeom prst="roundRect">
            <a:avLst/>
          </a:prstGeom>
          <a:solidFill>
            <a:srgbClr val="1C2739"/>
          </a:solidFill>
          <a:ln>
            <a:solidFill>
              <a:srgbClr val="33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64008" cy="2148840"/>
          </a:xfrm>
          <a:prstGeom prst="rect">
            <a:avLst/>
          </a:prstGeom>
          <a:solidFill>
            <a:srgbClr val="21B573"/>
          </a:solidFill>
          <a:ln>
            <a:solidFill>
              <a:srgbClr val="21B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527048"/>
            <a:ext cx="3063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AFD"/>
                </a:solidFill>
                <a:latin typeface="Microsoft YaHei"/>
              </a:rPr>
              <a:t>Spectrum-X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901952"/>
            <a:ext cx="303580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5ECF5"/>
                </a:solidFill>
                <a:latin typeface="Microsoft YaHei"/>
              </a:rPr>
              <a:t>交换机逐包选择最空出口
CX8 乱序落位与重排
端到端遥测、拥塞控制、重传协同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6552" y="1417320"/>
            <a:ext cx="3383280" cy="2148840"/>
          </a:xfrm>
          <a:prstGeom prst="roundRect">
            <a:avLst/>
          </a:prstGeom>
          <a:solidFill>
            <a:srgbClr val="1C2739"/>
          </a:solidFill>
          <a:ln>
            <a:solidFill>
              <a:srgbClr val="33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16552" y="1417320"/>
            <a:ext cx="64008" cy="2148840"/>
          </a:xfrm>
          <a:prstGeom prst="rect">
            <a:avLst/>
          </a:prstGeom>
          <a:solidFill>
            <a:srgbClr val="FF9933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527048"/>
            <a:ext cx="3063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AFD"/>
                </a:solidFill>
                <a:latin typeface="Microsoft YaHei"/>
              </a:rPr>
              <a:t>非 Spectrum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1901952"/>
            <a:ext cx="303580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5ECF5"/>
                </a:solidFill>
                <a:latin typeface="Microsoft YaHei"/>
              </a:rPr>
              <a:t>QP 五元组必须稳定
ECMP 将一条 QP 固定到一条路径
同一 QP 仍受保序与 Go-Back-N 约束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47304" y="1417320"/>
            <a:ext cx="3383280" cy="2148840"/>
          </a:xfrm>
          <a:prstGeom prst="roundRect">
            <a:avLst/>
          </a:prstGeom>
          <a:solidFill>
            <a:srgbClr val="1C2739"/>
          </a:solidFill>
          <a:ln>
            <a:solidFill>
              <a:srgbClr val="33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47304" y="1417320"/>
            <a:ext cx="64008" cy="2148840"/>
          </a:xfrm>
          <a:prstGeom prst="rect">
            <a:avLst/>
          </a:prstGeom>
          <a:solidFill>
            <a:srgbClr val="E14848"/>
          </a:solidFill>
          <a:ln>
            <a:solidFill>
              <a:srgbClr val="E1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2" y="1527048"/>
            <a:ext cx="3063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AFD"/>
                </a:solidFill>
                <a:latin typeface="Microsoft YaHei"/>
              </a:rPr>
              <a:t>生产痛点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2" y="1901952"/>
            <a:ext cx="303580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5ECF5"/>
                </a:solidFill>
                <a:latin typeface="Microsoft YaHei"/>
              </a:rPr>
              <a:t>大象流少、路径熵不足
其它作业可随时与本 QP 冲突
最慢 VT 决定 collective 完成时间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977639"/>
            <a:ext cx="1097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5C8DD"/>
                </a:solidFill>
                <a:latin typeface="Microsoft YaHei"/>
              </a:rPr>
              <a:t>技术机会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315968"/>
            <a:ext cx="10698480" cy="1645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E5ECF5"/>
                </a:solidFill>
                <a:latin typeface="Microsoft YaHei"/>
              </a:defRPr>
            </a:pPr>
            <a:r>
              <a:t>•  用多个保序 QP 制造流级路径多样性，而不是逐包喷洒</a:t>
            </a:r>
          </a:p>
          <a:p>
            <a:pPr>
              <a:spcAft>
                <a:spcPts val="1100"/>
              </a:spcAft>
              <a:defRPr sz="1700">
                <a:solidFill>
                  <a:srgbClr val="E5ECF5"/>
                </a:solidFill>
                <a:latin typeface="Microsoft YaHei"/>
              </a:defRPr>
            </a:pPr>
            <a:r>
              <a:t>•  把每个 QP 升格为独立 VT，让通信库能观测、建模和调权</a:t>
            </a:r>
          </a:p>
          <a:p>
            <a:pPr>
              <a:spcAft>
                <a:spcPts val="1100"/>
              </a:spcAft>
              <a:defRPr sz="1700">
                <a:solidFill>
                  <a:srgbClr val="E5ECF5"/>
                </a:solidFill>
                <a:latin typeface="Microsoft YaHei"/>
              </a:defRPr>
            </a:pPr>
            <a:r>
              <a:t>•  利用可编程交换机做路径校验与队列遥测，不改变 QP 内路径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4572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25C8DD"/>
                </a:solidFill>
                <a:latin typeface="Microsoft YaHei"/>
              </a:rPr>
              <a:t>PHYSICAL TOPOLOGY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8FAFD"/>
                </a:solidFill>
                <a:latin typeface="Microsoft YaHei"/>
              </a:rPr>
              <a:t>NVL72 拓扑：网卡池化边界是 Compute Tray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60704"/>
            <a:ext cx="914400" cy="45720"/>
          </a:xfrm>
          <a:prstGeom prst="rect">
            <a:avLst/>
          </a:prstGeom>
          <a:solidFill>
            <a:srgbClr val="266CFF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64808"/>
            <a:ext cx="3657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8294AE"/>
                </a:solidFill>
                <a:latin typeface="Microsoft YaHe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325880"/>
            <a:ext cx="3246120" cy="3337560"/>
          </a:xfrm>
          <a:prstGeom prst="roundRect">
            <a:avLst/>
          </a:prstGeom>
          <a:solidFill>
            <a:srgbClr val="1C2739"/>
          </a:solidFill>
          <a:ln>
            <a:solidFill>
              <a:srgbClr val="33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444752"/>
            <a:ext cx="20116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8FAFD"/>
                </a:solidFill>
                <a:latin typeface="Microsoft YaHei"/>
              </a:rPr>
              <a:t>Compute Tray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79192" y="1444752"/>
            <a:ext cx="10515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25C8DD"/>
                </a:solidFill>
                <a:latin typeface="Microsoft YaHei"/>
              </a:rPr>
              <a:t>单 OS / PXN 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1938528"/>
            <a:ext cx="713232" cy="347472"/>
          </a:xfrm>
          <a:prstGeom prst="roundRect">
            <a:avLst/>
          </a:prstGeom>
          <a:solidFill>
            <a:srgbClr val="266CFF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938528"/>
            <a:ext cx="71323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D"/>
                </a:solidFill>
                <a:latin typeface="Microsoft YaHei"/>
              </a:rPr>
              <a:t>GPU0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728216" y="2112264"/>
            <a:ext cx="347472" cy="0"/>
          </a:xfrm>
          <a:prstGeom prst="line">
            <a:avLst/>
          </a:prstGeom>
          <a:ln w="25400">
            <a:solidFill>
              <a:srgbClr val="E5EC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093976" y="1938528"/>
            <a:ext cx="749808" cy="347472"/>
          </a:xfrm>
          <a:prstGeom prst="roundRect">
            <a:avLst/>
          </a:prstGeom>
          <a:solidFill>
            <a:srgbClr val="266CFF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93976" y="1938528"/>
            <a:ext cx="74980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D"/>
                </a:solidFill>
                <a:latin typeface="Microsoft YaHei"/>
              </a:rPr>
              <a:t>NIC0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1938528"/>
            <a:ext cx="6400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66CFF"/>
                </a:solidFill>
                <a:latin typeface="Microsoft YaHei"/>
              </a:rPr>
              <a:t>Rail 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2505456"/>
            <a:ext cx="713232" cy="347472"/>
          </a:xfrm>
          <a:prstGeom prst="roundRect">
            <a:avLst/>
          </a:prstGeom>
          <a:solidFill>
            <a:srgbClr val="25C8DD"/>
          </a:solidFill>
          <a:ln>
            <a:solidFill>
              <a:srgbClr val="25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2505456"/>
            <a:ext cx="71323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D"/>
                </a:solidFill>
                <a:latin typeface="Microsoft YaHei"/>
              </a:rPr>
              <a:t>GPU1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728216" y="2679192"/>
            <a:ext cx="347472" cy="0"/>
          </a:xfrm>
          <a:prstGeom prst="line">
            <a:avLst/>
          </a:prstGeom>
          <a:ln w="25400">
            <a:solidFill>
              <a:srgbClr val="E5EC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093976" y="2505456"/>
            <a:ext cx="749808" cy="347472"/>
          </a:xfrm>
          <a:prstGeom prst="roundRect">
            <a:avLst/>
          </a:prstGeom>
          <a:solidFill>
            <a:srgbClr val="25C8DD"/>
          </a:solidFill>
          <a:ln>
            <a:solidFill>
              <a:srgbClr val="25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93976" y="2505456"/>
            <a:ext cx="74980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D"/>
                </a:solidFill>
                <a:latin typeface="Microsoft YaHei"/>
              </a:rPr>
              <a:t>NIC1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2505456"/>
            <a:ext cx="6400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5C8DD"/>
                </a:solidFill>
                <a:latin typeface="Microsoft YaHei"/>
              </a:rPr>
              <a:t>Rail 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5840" y="3072384"/>
            <a:ext cx="713232" cy="347472"/>
          </a:xfrm>
          <a:prstGeom prst="roundRect">
            <a:avLst/>
          </a:prstGeom>
          <a:solidFill>
            <a:srgbClr val="21B573"/>
          </a:solidFill>
          <a:ln>
            <a:solidFill>
              <a:srgbClr val="21B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3072384"/>
            <a:ext cx="71323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D"/>
                </a:solidFill>
                <a:latin typeface="Microsoft YaHei"/>
              </a:rPr>
              <a:t>GPU2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728216" y="3246120"/>
            <a:ext cx="347472" cy="0"/>
          </a:xfrm>
          <a:prstGeom prst="line">
            <a:avLst/>
          </a:prstGeom>
          <a:ln w="25400">
            <a:solidFill>
              <a:srgbClr val="E5EC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2093976" y="3072384"/>
            <a:ext cx="749808" cy="347472"/>
          </a:xfrm>
          <a:prstGeom prst="roundRect">
            <a:avLst/>
          </a:prstGeom>
          <a:solidFill>
            <a:srgbClr val="21B573"/>
          </a:solidFill>
          <a:ln>
            <a:solidFill>
              <a:srgbClr val="21B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93976" y="3072384"/>
            <a:ext cx="74980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D"/>
                </a:solidFill>
                <a:latin typeface="Microsoft YaHei"/>
              </a:rPr>
              <a:t>NIC2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3072384"/>
            <a:ext cx="6400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1B573"/>
                </a:solidFill>
                <a:latin typeface="Microsoft YaHei"/>
              </a:rPr>
              <a:t>Rail 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5840" y="3639312"/>
            <a:ext cx="713232" cy="347472"/>
          </a:xfrm>
          <a:prstGeom prst="roundRect">
            <a:avLst/>
          </a:prstGeom>
          <a:solidFill>
            <a:srgbClr val="FF9933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3639312"/>
            <a:ext cx="71323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D"/>
                </a:solidFill>
                <a:latin typeface="Microsoft YaHei"/>
              </a:rPr>
              <a:t>GPU3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728216" y="3813048"/>
            <a:ext cx="347472" cy="0"/>
          </a:xfrm>
          <a:prstGeom prst="line">
            <a:avLst/>
          </a:prstGeom>
          <a:ln w="25400">
            <a:solidFill>
              <a:srgbClr val="E5EC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2093976" y="3639312"/>
            <a:ext cx="749808" cy="347472"/>
          </a:xfrm>
          <a:prstGeom prst="roundRect">
            <a:avLst/>
          </a:prstGeom>
          <a:solidFill>
            <a:srgbClr val="FF9933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93976" y="3639312"/>
            <a:ext cx="74980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D"/>
                </a:solidFill>
                <a:latin typeface="Microsoft YaHei"/>
              </a:rPr>
              <a:t>NIC3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17520" y="3639312"/>
            <a:ext cx="6400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FF9933"/>
                </a:solidFill>
                <a:latin typeface="Microsoft YaHei"/>
              </a:rPr>
              <a:t>Rail 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53127" y="1325880"/>
            <a:ext cx="3246120" cy="3337560"/>
          </a:xfrm>
          <a:prstGeom prst="roundRect">
            <a:avLst/>
          </a:prstGeom>
          <a:solidFill>
            <a:srgbClr val="1C2739"/>
          </a:solidFill>
          <a:ln>
            <a:solidFill>
              <a:srgbClr val="33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36007" y="1444752"/>
            <a:ext cx="20116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8FAFD"/>
                </a:solidFill>
                <a:latin typeface="Microsoft YaHei"/>
              </a:rPr>
              <a:t>Compute Tray 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79" y="1444752"/>
            <a:ext cx="10515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25C8DD"/>
                </a:solidFill>
                <a:latin typeface="Microsoft YaHei"/>
              </a:rPr>
              <a:t>单 OS / PXN 域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681727" y="1938528"/>
            <a:ext cx="713232" cy="347472"/>
          </a:xfrm>
          <a:prstGeom prst="roundRect">
            <a:avLst/>
          </a:prstGeom>
          <a:solidFill>
            <a:srgbClr val="266CFF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81727" y="1938528"/>
            <a:ext cx="71323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D"/>
                </a:solidFill>
                <a:latin typeface="Microsoft YaHei"/>
              </a:rPr>
              <a:t>GPU0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404103" y="2112264"/>
            <a:ext cx="347472" cy="0"/>
          </a:xfrm>
          <a:prstGeom prst="line">
            <a:avLst/>
          </a:prstGeom>
          <a:ln w="25400">
            <a:solidFill>
              <a:srgbClr val="E5EC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5769863" y="1938528"/>
            <a:ext cx="749808" cy="347472"/>
          </a:xfrm>
          <a:prstGeom prst="roundRect">
            <a:avLst/>
          </a:prstGeom>
          <a:solidFill>
            <a:srgbClr val="266CFF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769863" y="1938528"/>
            <a:ext cx="74980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D"/>
                </a:solidFill>
                <a:latin typeface="Microsoft YaHei"/>
              </a:rPr>
              <a:t>NIC0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93407" y="1938528"/>
            <a:ext cx="6400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66CFF"/>
                </a:solidFill>
                <a:latin typeface="Microsoft YaHei"/>
              </a:rPr>
              <a:t>Rail 0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681727" y="2505456"/>
            <a:ext cx="713232" cy="347472"/>
          </a:xfrm>
          <a:prstGeom prst="roundRect">
            <a:avLst/>
          </a:prstGeom>
          <a:solidFill>
            <a:srgbClr val="25C8DD"/>
          </a:solidFill>
          <a:ln>
            <a:solidFill>
              <a:srgbClr val="25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81727" y="2505456"/>
            <a:ext cx="71323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D"/>
                </a:solidFill>
                <a:latin typeface="Microsoft YaHei"/>
              </a:rPr>
              <a:t>GPU1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404103" y="2679192"/>
            <a:ext cx="347472" cy="0"/>
          </a:xfrm>
          <a:prstGeom prst="line">
            <a:avLst/>
          </a:prstGeom>
          <a:ln w="25400">
            <a:solidFill>
              <a:srgbClr val="E5EC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5769863" y="2505456"/>
            <a:ext cx="749808" cy="347472"/>
          </a:xfrm>
          <a:prstGeom prst="roundRect">
            <a:avLst/>
          </a:prstGeom>
          <a:solidFill>
            <a:srgbClr val="25C8DD"/>
          </a:solidFill>
          <a:ln>
            <a:solidFill>
              <a:srgbClr val="25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769863" y="2505456"/>
            <a:ext cx="74980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D"/>
                </a:solidFill>
                <a:latin typeface="Microsoft YaHei"/>
              </a:rPr>
              <a:t>NIC1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93407" y="2505456"/>
            <a:ext cx="6400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5C8DD"/>
                </a:solidFill>
                <a:latin typeface="Microsoft YaHei"/>
              </a:rPr>
              <a:t>Rail 1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681727" y="3072384"/>
            <a:ext cx="713232" cy="347472"/>
          </a:xfrm>
          <a:prstGeom prst="roundRect">
            <a:avLst/>
          </a:prstGeom>
          <a:solidFill>
            <a:srgbClr val="21B573"/>
          </a:solidFill>
          <a:ln>
            <a:solidFill>
              <a:srgbClr val="21B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681727" y="3072384"/>
            <a:ext cx="71323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D"/>
                </a:solidFill>
                <a:latin typeface="Microsoft YaHei"/>
              </a:rPr>
              <a:t>GPU2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5404103" y="3246120"/>
            <a:ext cx="347472" cy="0"/>
          </a:xfrm>
          <a:prstGeom prst="line">
            <a:avLst/>
          </a:prstGeom>
          <a:ln w="25400">
            <a:solidFill>
              <a:srgbClr val="E5EC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5769863" y="3072384"/>
            <a:ext cx="749808" cy="347472"/>
          </a:xfrm>
          <a:prstGeom prst="roundRect">
            <a:avLst/>
          </a:prstGeom>
          <a:solidFill>
            <a:srgbClr val="21B573"/>
          </a:solidFill>
          <a:ln>
            <a:solidFill>
              <a:srgbClr val="21B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769863" y="3072384"/>
            <a:ext cx="74980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D"/>
                </a:solidFill>
                <a:latin typeface="Microsoft YaHei"/>
              </a:rPr>
              <a:t>NIC2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93407" y="3072384"/>
            <a:ext cx="6400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1B573"/>
                </a:solidFill>
                <a:latin typeface="Microsoft YaHei"/>
              </a:rPr>
              <a:t>Rail 2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681727" y="3639312"/>
            <a:ext cx="713232" cy="347472"/>
          </a:xfrm>
          <a:prstGeom prst="roundRect">
            <a:avLst/>
          </a:prstGeom>
          <a:solidFill>
            <a:srgbClr val="FF9933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681727" y="3639312"/>
            <a:ext cx="71323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D"/>
                </a:solidFill>
                <a:latin typeface="Microsoft YaHei"/>
              </a:rPr>
              <a:t>GPU3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404103" y="3813048"/>
            <a:ext cx="347472" cy="0"/>
          </a:xfrm>
          <a:prstGeom prst="line">
            <a:avLst/>
          </a:prstGeom>
          <a:ln w="25400">
            <a:solidFill>
              <a:srgbClr val="E5EC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5769863" y="3639312"/>
            <a:ext cx="749808" cy="347472"/>
          </a:xfrm>
          <a:prstGeom prst="roundRect">
            <a:avLst/>
          </a:prstGeom>
          <a:solidFill>
            <a:srgbClr val="FF9933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769863" y="3639312"/>
            <a:ext cx="74980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D"/>
                </a:solidFill>
                <a:latin typeface="Microsoft YaHei"/>
              </a:rPr>
              <a:t>NIC3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93407" y="3639312"/>
            <a:ext cx="6400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FF9933"/>
                </a:solidFill>
                <a:latin typeface="Microsoft YaHei"/>
              </a:rPr>
              <a:t>Rail 3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129015" y="1325880"/>
            <a:ext cx="3246120" cy="3337560"/>
          </a:xfrm>
          <a:prstGeom prst="roundRect">
            <a:avLst/>
          </a:prstGeom>
          <a:solidFill>
            <a:srgbClr val="1C2739"/>
          </a:solidFill>
          <a:ln>
            <a:solidFill>
              <a:srgbClr val="33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311895" y="1444752"/>
            <a:ext cx="20116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8FAFD"/>
                </a:solidFill>
                <a:latin typeface="Microsoft YaHei"/>
              </a:rPr>
              <a:t>Compute Tray 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030967" y="1444752"/>
            <a:ext cx="10515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25C8DD"/>
                </a:solidFill>
                <a:latin typeface="Microsoft YaHei"/>
              </a:rPr>
              <a:t>单 OS / PXN 域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357615" y="1938528"/>
            <a:ext cx="713232" cy="347472"/>
          </a:xfrm>
          <a:prstGeom prst="roundRect">
            <a:avLst/>
          </a:prstGeom>
          <a:solidFill>
            <a:srgbClr val="266CFF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357615" y="1938528"/>
            <a:ext cx="71323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D"/>
                </a:solidFill>
                <a:latin typeface="Microsoft YaHei"/>
              </a:rPr>
              <a:t>GPU0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9079992" y="2112264"/>
            <a:ext cx="347471" cy="0"/>
          </a:xfrm>
          <a:prstGeom prst="line">
            <a:avLst/>
          </a:prstGeom>
          <a:ln w="25400">
            <a:solidFill>
              <a:srgbClr val="E5EC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ounded Rectangle 65"/>
          <p:cNvSpPr/>
          <p:nvPr/>
        </p:nvSpPr>
        <p:spPr>
          <a:xfrm>
            <a:off x="9445751" y="1938528"/>
            <a:ext cx="749808" cy="347472"/>
          </a:xfrm>
          <a:prstGeom prst="roundRect">
            <a:avLst/>
          </a:prstGeom>
          <a:solidFill>
            <a:srgbClr val="266CFF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445751" y="1938528"/>
            <a:ext cx="74980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D"/>
                </a:solidFill>
                <a:latin typeface="Microsoft YaHei"/>
              </a:rPr>
              <a:t>NIC0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369296" y="1938528"/>
            <a:ext cx="6400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66CFF"/>
                </a:solidFill>
                <a:latin typeface="Microsoft YaHei"/>
              </a:rPr>
              <a:t>Rail 0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357615" y="2505456"/>
            <a:ext cx="713232" cy="347472"/>
          </a:xfrm>
          <a:prstGeom prst="roundRect">
            <a:avLst/>
          </a:prstGeom>
          <a:solidFill>
            <a:srgbClr val="25C8DD"/>
          </a:solidFill>
          <a:ln>
            <a:solidFill>
              <a:srgbClr val="25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357615" y="2505456"/>
            <a:ext cx="71323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D"/>
                </a:solidFill>
                <a:latin typeface="Microsoft YaHei"/>
              </a:rPr>
              <a:t>GPU1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9079992" y="2679192"/>
            <a:ext cx="347471" cy="0"/>
          </a:xfrm>
          <a:prstGeom prst="line">
            <a:avLst/>
          </a:prstGeom>
          <a:ln w="25400">
            <a:solidFill>
              <a:srgbClr val="E5EC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ounded Rectangle 71"/>
          <p:cNvSpPr/>
          <p:nvPr/>
        </p:nvSpPr>
        <p:spPr>
          <a:xfrm>
            <a:off x="9445751" y="2505456"/>
            <a:ext cx="749808" cy="347472"/>
          </a:xfrm>
          <a:prstGeom prst="roundRect">
            <a:avLst/>
          </a:prstGeom>
          <a:solidFill>
            <a:srgbClr val="25C8DD"/>
          </a:solidFill>
          <a:ln>
            <a:solidFill>
              <a:srgbClr val="25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445751" y="2505456"/>
            <a:ext cx="74980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D"/>
                </a:solidFill>
                <a:latin typeface="Microsoft YaHei"/>
              </a:rPr>
              <a:t>NIC1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369296" y="2505456"/>
            <a:ext cx="6400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5C8DD"/>
                </a:solidFill>
                <a:latin typeface="Microsoft YaHei"/>
              </a:rPr>
              <a:t>Rail 1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357615" y="3072384"/>
            <a:ext cx="713232" cy="347472"/>
          </a:xfrm>
          <a:prstGeom prst="roundRect">
            <a:avLst/>
          </a:prstGeom>
          <a:solidFill>
            <a:srgbClr val="21B573"/>
          </a:solidFill>
          <a:ln>
            <a:solidFill>
              <a:srgbClr val="21B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357615" y="3072384"/>
            <a:ext cx="71323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D"/>
                </a:solidFill>
                <a:latin typeface="Microsoft YaHei"/>
              </a:rPr>
              <a:t>GPU2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9079992" y="3246120"/>
            <a:ext cx="347471" cy="0"/>
          </a:xfrm>
          <a:prstGeom prst="line">
            <a:avLst/>
          </a:prstGeom>
          <a:ln w="25400">
            <a:solidFill>
              <a:srgbClr val="E5EC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ounded Rectangle 77"/>
          <p:cNvSpPr/>
          <p:nvPr/>
        </p:nvSpPr>
        <p:spPr>
          <a:xfrm>
            <a:off x="9445751" y="3072384"/>
            <a:ext cx="749808" cy="347472"/>
          </a:xfrm>
          <a:prstGeom prst="roundRect">
            <a:avLst/>
          </a:prstGeom>
          <a:solidFill>
            <a:srgbClr val="21B573"/>
          </a:solidFill>
          <a:ln>
            <a:solidFill>
              <a:srgbClr val="21B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445751" y="3072384"/>
            <a:ext cx="74980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D"/>
                </a:solidFill>
                <a:latin typeface="Microsoft YaHei"/>
              </a:rPr>
              <a:t>NIC2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369296" y="3072384"/>
            <a:ext cx="6400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1B573"/>
                </a:solidFill>
                <a:latin typeface="Microsoft YaHei"/>
              </a:rPr>
              <a:t>Rail 2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8357615" y="3639312"/>
            <a:ext cx="713232" cy="347472"/>
          </a:xfrm>
          <a:prstGeom prst="roundRect">
            <a:avLst/>
          </a:prstGeom>
          <a:solidFill>
            <a:srgbClr val="FF9933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357615" y="3639312"/>
            <a:ext cx="71323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D"/>
                </a:solidFill>
                <a:latin typeface="Microsoft YaHei"/>
              </a:rPr>
              <a:t>GPU3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9079992" y="3813048"/>
            <a:ext cx="347471" cy="0"/>
          </a:xfrm>
          <a:prstGeom prst="line">
            <a:avLst/>
          </a:prstGeom>
          <a:ln w="25400">
            <a:solidFill>
              <a:srgbClr val="E5EC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ounded Rectangle 83"/>
          <p:cNvSpPr/>
          <p:nvPr/>
        </p:nvSpPr>
        <p:spPr>
          <a:xfrm>
            <a:off x="9445751" y="3639312"/>
            <a:ext cx="749808" cy="347472"/>
          </a:xfrm>
          <a:prstGeom prst="roundRect">
            <a:avLst/>
          </a:prstGeom>
          <a:solidFill>
            <a:srgbClr val="FF9933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445751" y="3639312"/>
            <a:ext cx="74980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FAFD"/>
                </a:solidFill>
                <a:latin typeface="Microsoft YaHei"/>
              </a:rPr>
              <a:t>NIC3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369296" y="3639312"/>
            <a:ext cx="6400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FF9933"/>
                </a:solidFill>
                <a:latin typeface="Microsoft YaHei"/>
              </a:rPr>
              <a:t>Rail 3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777240" y="5001768"/>
            <a:ext cx="10607040" cy="594360"/>
          </a:xfrm>
          <a:prstGeom prst="roundRect">
            <a:avLst/>
          </a:prstGeom>
          <a:solidFill>
            <a:srgbClr val="133153"/>
          </a:solidFill>
          <a:ln>
            <a:solidFill>
              <a:srgbClr val="133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005840" y="5074920"/>
            <a:ext cx="10058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8FAFD"/>
                </a:solidFill>
                <a:latin typeface="Microsoft YaHei"/>
              </a:rPr>
              <a:t>NVLink Switch Fabric：72 GPU 同一 NVLink 域，但 PXN 不能跨 18 个 OS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04672" y="5806440"/>
            <a:ext cx="106070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9933"/>
                </a:solidFill>
                <a:latin typeface="Microsoft YaHei"/>
              </a:rPr>
              <a:t>默认池化：本 Tray 4 张 CX8 / 4 条 Rail；整柜 NIC 池化只保留为故障备份研究项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4572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25C8DD"/>
                </a:solidFill>
                <a:latin typeface="Microsoft YaHei"/>
              </a:rPr>
              <a:t>GRANULARITY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8FAFD"/>
                </a:solidFill>
                <a:latin typeface="Microsoft YaHei"/>
              </a:rPr>
              <a:t>为什么必须 VT = Channel = QP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60704"/>
            <a:ext cx="914400" cy="45720"/>
          </a:xfrm>
          <a:prstGeom prst="rect">
            <a:avLst/>
          </a:prstGeom>
          <a:solidFill>
            <a:srgbClr val="266CFF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64808"/>
            <a:ext cx="3657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8294AE"/>
                </a:solidFill>
                <a:latin typeface="Microsoft YaHe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5074920" cy="2834640"/>
          </a:xfrm>
          <a:prstGeom prst="roundRect">
            <a:avLst/>
          </a:prstGeom>
          <a:solidFill>
            <a:srgbClr val="1C2739"/>
          </a:solidFill>
          <a:ln>
            <a:solidFill>
              <a:srgbClr val="33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64008" cy="2834640"/>
          </a:xfrm>
          <a:prstGeom prst="rect">
            <a:avLst/>
          </a:prstGeom>
          <a:solidFill>
            <a:srgbClr val="E14848"/>
          </a:solidFill>
          <a:ln>
            <a:solidFill>
              <a:srgbClr val="E1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527048"/>
            <a:ext cx="4754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AFD"/>
                </a:solidFill>
                <a:latin typeface="Microsoft YaHei"/>
              </a:rPr>
              <a:t>错误抽象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901952"/>
            <a:ext cx="4727448" cy="2240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5ECF5"/>
                </a:solidFill>
                <a:latin typeface="Microsoft YaHei"/>
              </a:rPr>
              <a:t>一个 Channel 内藏 2 条 QP
通信库只看到一个 FIFO stall
无法知道是哪条 QP 与其它大象流冲突
也无法单独迁移该 QP 的字节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28232" y="1417320"/>
            <a:ext cx="5074920" cy="2834640"/>
          </a:xfrm>
          <a:prstGeom prst="roundRect">
            <a:avLst/>
          </a:prstGeom>
          <a:solidFill>
            <a:srgbClr val="1C2739"/>
          </a:solidFill>
          <a:ln>
            <a:solidFill>
              <a:srgbClr val="33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28232" y="1417320"/>
            <a:ext cx="64008" cy="2834640"/>
          </a:xfrm>
          <a:prstGeom prst="rect">
            <a:avLst/>
          </a:prstGeom>
          <a:solidFill>
            <a:srgbClr val="21B573"/>
          </a:solidFill>
          <a:ln>
            <a:solidFill>
              <a:srgbClr val="21B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527048"/>
            <a:ext cx="4754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AFD"/>
                </a:solidFill>
                <a:latin typeface="Microsoft YaHei"/>
              </a:rPr>
              <a:t>正确抽象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1901952"/>
            <a:ext cx="4727448" cy="2240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5ECF5"/>
                </a:solidFill>
                <a:latin typeface="Microsoft YaHei"/>
              </a:rPr>
              <a:t>每个 QP 独占一个 Channel/VT
每 VT 有独立 stall、完成率和字节区间
下一 epoch 可单独改变权重
Rail 与实际 ECMP path 作为标签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806440" y="2816352"/>
            <a:ext cx="548640" cy="0"/>
          </a:xfrm>
          <a:prstGeom prst="line">
            <a:avLst/>
          </a:prstGeom>
          <a:ln w="63500">
            <a:solidFill>
              <a:srgbClr val="25C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377440" y="4919472"/>
            <a:ext cx="749807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25C8DD"/>
                </a:solidFill>
                <a:latin typeface="Microsoft YaHei"/>
              </a:rPr>
              <a:t>可观测  →  可决策  →  可执行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4572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25C8DD"/>
                </a:solidFill>
                <a:latin typeface="Microsoft YaHei"/>
              </a:rPr>
              <a:t>INITIAL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8FAFD"/>
                </a:solidFill>
                <a:latin typeface="Microsoft YaHei"/>
              </a:rPr>
              <a:t>推荐映射：8 VT = 4 Rail × 2 QP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60704"/>
            <a:ext cx="914400" cy="45720"/>
          </a:xfrm>
          <a:prstGeom prst="rect">
            <a:avLst/>
          </a:prstGeom>
          <a:solidFill>
            <a:srgbClr val="266CFF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64808"/>
            <a:ext cx="3657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8294AE"/>
                </a:solidFill>
                <a:latin typeface="Microsoft YaHei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581912"/>
            <a:ext cx="960120" cy="347472"/>
          </a:xfrm>
          <a:prstGeom prst="roundRect">
            <a:avLst/>
          </a:prstGeom>
          <a:solidFill>
            <a:srgbClr val="266CFF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581912"/>
            <a:ext cx="9601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8FAFD"/>
                </a:solidFill>
                <a:latin typeface="Microsoft YaHei"/>
              </a:rPr>
              <a:t>RAIL 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1371600"/>
            <a:ext cx="3401568" cy="786384"/>
          </a:xfrm>
          <a:prstGeom prst="roundRect">
            <a:avLst/>
          </a:prstGeom>
          <a:solidFill>
            <a:srgbClr val="192D48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40280" y="1444752"/>
            <a:ext cx="24688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8FAFD"/>
                </a:solidFill>
                <a:latin typeface="Microsoft YaHei"/>
              </a:rPr>
              <a:t>VT0  =  Channel0  =  QP0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783080"/>
            <a:ext cx="265176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8294AE"/>
                </a:solidFill>
                <a:latin typeface="Microsoft YaHei"/>
              </a:rPr>
              <a:t>sport 固定  |  path 0A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371600"/>
            <a:ext cx="3401568" cy="786384"/>
          </a:xfrm>
          <a:prstGeom prst="roundRect">
            <a:avLst/>
          </a:prstGeom>
          <a:solidFill>
            <a:srgbClr val="192D48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444752"/>
            <a:ext cx="24688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8FAFD"/>
                </a:solidFill>
                <a:latin typeface="Microsoft YaHei"/>
              </a:rPr>
              <a:t>VT1  =  Channel1  =  QP1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783080"/>
            <a:ext cx="265176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8294AE"/>
                </a:solidFill>
                <a:latin typeface="Microsoft YaHei"/>
              </a:rPr>
              <a:t>sport 固定  |  path 0B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59552" y="1536192"/>
            <a:ext cx="3200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266CFF"/>
                </a:solidFill>
                <a:latin typeface="Microsoft YaHei"/>
              </a:rPr>
              <a:t>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2697479"/>
            <a:ext cx="960120" cy="347472"/>
          </a:xfrm>
          <a:prstGeom prst="roundRect">
            <a:avLst/>
          </a:prstGeom>
          <a:solidFill>
            <a:srgbClr val="25C8DD"/>
          </a:solidFill>
          <a:ln>
            <a:solidFill>
              <a:srgbClr val="25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2697479"/>
            <a:ext cx="9601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8FAFD"/>
                </a:solidFill>
                <a:latin typeface="Microsoft YaHei"/>
              </a:rPr>
              <a:t>RAIL 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57400" y="2487168"/>
            <a:ext cx="3401568" cy="786384"/>
          </a:xfrm>
          <a:prstGeom prst="roundRect">
            <a:avLst/>
          </a:prstGeom>
          <a:solidFill>
            <a:srgbClr val="192D48"/>
          </a:solidFill>
          <a:ln>
            <a:solidFill>
              <a:srgbClr val="25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40280" y="2560320"/>
            <a:ext cx="24688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8FAFD"/>
                </a:solidFill>
                <a:latin typeface="Microsoft YaHei"/>
              </a:rPr>
              <a:t>VT2  =  Channel2  =  QP2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898648"/>
            <a:ext cx="265176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8294AE"/>
                </a:solidFill>
                <a:latin typeface="Microsoft YaHei"/>
              </a:rPr>
              <a:t>sport 固定  |  path 1A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2487168"/>
            <a:ext cx="3401568" cy="786384"/>
          </a:xfrm>
          <a:prstGeom prst="roundRect">
            <a:avLst/>
          </a:prstGeom>
          <a:solidFill>
            <a:srgbClr val="192D48"/>
          </a:solidFill>
          <a:ln>
            <a:solidFill>
              <a:srgbClr val="25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2560320"/>
            <a:ext cx="24688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8FAFD"/>
                </a:solidFill>
                <a:latin typeface="Microsoft YaHei"/>
              </a:rPr>
              <a:t>VT3  =  Channel3  =  QP3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898648"/>
            <a:ext cx="265176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8294AE"/>
                </a:solidFill>
                <a:latin typeface="Microsoft YaHei"/>
              </a:rPr>
              <a:t>sport 固定  |  path 1B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59552" y="2651760"/>
            <a:ext cx="3200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25C8DD"/>
                </a:solidFill>
                <a:latin typeface="Microsoft YaHei"/>
              </a:rPr>
              <a:t>≠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3813048"/>
            <a:ext cx="960120" cy="347472"/>
          </a:xfrm>
          <a:prstGeom prst="roundRect">
            <a:avLst/>
          </a:prstGeom>
          <a:solidFill>
            <a:srgbClr val="21B573"/>
          </a:solidFill>
          <a:ln>
            <a:solidFill>
              <a:srgbClr val="21B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3813048"/>
            <a:ext cx="9601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8FAFD"/>
                </a:solidFill>
                <a:latin typeface="Microsoft YaHei"/>
              </a:rPr>
              <a:t>RAIL 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057400" y="3602736"/>
            <a:ext cx="3401568" cy="786384"/>
          </a:xfrm>
          <a:prstGeom prst="roundRect">
            <a:avLst/>
          </a:prstGeom>
          <a:solidFill>
            <a:srgbClr val="192D48"/>
          </a:solidFill>
          <a:ln>
            <a:solidFill>
              <a:srgbClr val="21B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40280" y="3675887"/>
            <a:ext cx="24688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8FAFD"/>
                </a:solidFill>
                <a:latin typeface="Microsoft YaHei"/>
              </a:rPr>
              <a:t>VT4  =  Channel4  =  QP4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014215"/>
            <a:ext cx="265176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8294AE"/>
                </a:solidFill>
                <a:latin typeface="Microsoft YaHei"/>
              </a:rPr>
              <a:t>sport 固定  |  path 2A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26480" y="3602736"/>
            <a:ext cx="3401568" cy="786384"/>
          </a:xfrm>
          <a:prstGeom prst="roundRect">
            <a:avLst/>
          </a:prstGeom>
          <a:solidFill>
            <a:srgbClr val="192D48"/>
          </a:solidFill>
          <a:ln>
            <a:solidFill>
              <a:srgbClr val="21B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3675887"/>
            <a:ext cx="24688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8FAFD"/>
                </a:solidFill>
                <a:latin typeface="Microsoft YaHei"/>
              </a:rPr>
              <a:t>VT5  =  Channel5  =  QP5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4014215"/>
            <a:ext cx="265176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8294AE"/>
                </a:solidFill>
                <a:latin typeface="Microsoft YaHei"/>
              </a:rPr>
              <a:t>sport 固定  |  path 2B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59552" y="3767328"/>
            <a:ext cx="3200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21B573"/>
                </a:solidFill>
                <a:latin typeface="Microsoft YaHei"/>
              </a:rPr>
              <a:t>≠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3232" y="4928616"/>
            <a:ext cx="960120" cy="347472"/>
          </a:xfrm>
          <a:prstGeom prst="roundRect">
            <a:avLst/>
          </a:prstGeom>
          <a:solidFill>
            <a:srgbClr val="FF9933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232" y="4928616"/>
            <a:ext cx="9601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8FAFD"/>
                </a:solidFill>
                <a:latin typeface="Microsoft YaHei"/>
              </a:rPr>
              <a:t>RAIL 3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057400" y="4718304"/>
            <a:ext cx="3401568" cy="786384"/>
          </a:xfrm>
          <a:prstGeom prst="roundRect">
            <a:avLst/>
          </a:prstGeom>
          <a:solidFill>
            <a:srgbClr val="192D48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240280" y="4791456"/>
            <a:ext cx="24688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8FAFD"/>
                </a:solidFill>
                <a:latin typeface="Microsoft YaHei"/>
              </a:rPr>
              <a:t>VT6  =  Channel6  =  QP6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40280" y="5129784"/>
            <a:ext cx="265176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8294AE"/>
                </a:solidFill>
                <a:latin typeface="Microsoft YaHei"/>
              </a:rPr>
              <a:t>sport 固定  |  path 3A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26480" y="4718304"/>
            <a:ext cx="3401568" cy="786384"/>
          </a:xfrm>
          <a:prstGeom prst="roundRect">
            <a:avLst/>
          </a:prstGeom>
          <a:solidFill>
            <a:srgbClr val="192D48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09360" y="4791456"/>
            <a:ext cx="24688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8FAFD"/>
                </a:solidFill>
                <a:latin typeface="Microsoft YaHei"/>
              </a:rPr>
              <a:t>VT7  =  Channel7  =  QP7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5129784"/>
            <a:ext cx="265176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8294AE"/>
                </a:solidFill>
                <a:latin typeface="Microsoft YaHei"/>
              </a:rPr>
              <a:t>sport 固定  |  path 3B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59552" y="4882896"/>
            <a:ext cx="3200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9933"/>
                </a:solidFill>
                <a:latin typeface="Microsoft YaHei"/>
              </a:rPr>
              <a:t>≠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49808" y="5833872"/>
            <a:ext cx="10652760" cy="658368"/>
          </a:xfrm>
          <a:prstGeom prst="roundRect">
            <a:avLst/>
          </a:prstGeom>
          <a:solidFill>
            <a:srgbClr val="1C2739"/>
          </a:solidFill>
          <a:ln>
            <a:solidFill>
              <a:srgbClr val="33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9808" y="5833872"/>
            <a:ext cx="64008" cy="658368"/>
          </a:xfrm>
          <a:prstGeom prst="rect">
            <a:avLst/>
          </a:prstGeom>
          <a:solidFill>
            <a:srgbClr val="266CFF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0976" y="5943600"/>
            <a:ext cx="10332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8FAFD"/>
                </a:solidFill>
                <a:latin typeface="Microsoft YaHei"/>
              </a:rPr>
              <a:t>初始化约束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0976" y="6318504"/>
            <a:ext cx="10305288" cy="640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E5ECF5"/>
                </a:solidFill>
                <a:latin typeface="Microsoft YaHei"/>
              </a:rPr>
              <a:t>用交换机流表或主动探测确认 path_id；同 Rail 两条 QP 应落在不同上行。无法正交时，不把它们计作两份独立容量。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4572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25C8DD"/>
                </a:solidFill>
                <a:latin typeface="Microsoft YaHei"/>
              </a:rPr>
              <a:t>CONTROL HIERARCHY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8FAFD"/>
                </a:solidFill>
                <a:latin typeface="Microsoft YaHei"/>
              </a:rPr>
              <a:t>两级控制：先换 PATH，再换 RAIL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60704"/>
            <a:ext cx="914400" cy="45720"/>
          </a:xfrm>
          <a:prstGeom prst="rect">
            <a:avLst/>
          </a:prstGeom>
          <a:solidFill>
            <a:srgbClr val="266CFF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64808"/>
            <a:ext cx="3657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8294AE"/>
                </a:solidFill>
                <a:latin typeface="Microsoft YaHei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074920" cy="3154680"/>
          </a:xfrm>
          <a:prstGeom prst="roundRect">
            <a:avLst/>
          </a:prstGeom>
          <a:solidFill>
            <a:srgbClr val="1C2739"/>
          </a:solidFill>
          <a:ln>
            <a:solidFill>
              <a:srgbClr val="33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64008" cy="3154680"/>
          </a:xfrm>
          <a:prstGeom prst="rect">
            <a:avLst/>
          </a:prstGeom>
          <a:solidFill>
            <a:srgbClr val="25C8DD"/>
          </a:solidFill>
          <a:ln>
            <a:solidFill>
              <a:srgbClr val="25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481328"/>
            <a:ext cx="4754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AFD"/>
                </a:solidFill>
                <a:latin typeface="Microsoft YaHei"/>
              </a:rPr>
              <a:t>L1：Rail 内调节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856232"/>
            <a:ext cx="4727448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5ECF5"/>
                </a:solidFill>
                <a:latin typeface="Microsoft YaHei"/>
              </a:rPr>
              <a:t>触发：同 Rail 部分 VT 慢、部分正常
判因：某条 leaf→spine 上行发生 ECMP 冲突
动作：只在同 Rail 的 QP/VT 间迁移权重
成本：最低，不增加 NVLink 绕路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82512" y="1371600"/>
            <a:ext cx="5074920" cy="3154680"/>
          </a:xfrm>
          <a:prstGeom prst="roundRect">
            <a:avLst/>
          </a:prstGeom>
          <a:solidFill>
            <a:srgbClr val="1C2739"/>
          </a:solidFill>
          <a:ln>
            <a:solidFill>
              <a:srgbClr val="33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82512" y="1371600"/>
            <a:ext cx="64008" cy="3154680"/>
          </a:xfrm>
          <a:prstGeom prst="rect">
            <a:avLst/>
          </a:prstGeom>
          <a:solidFill>
            <a:srgbClr val="21B573"/>
          </a:solidFill>
          <a:ln>
            <a:solidFill>
              <a:srgbClr val="21B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481328"/>
            <a:ext cx="4754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AFD"/>
                </a:solidFill>
                <a:latin typeface="Microsoft YaHei"/>
              </a:rPr>
              <a:t>L2：跨 Rail 绕路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856232"/>
            <a:ext cx="4727448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5ECF5"/>
                </a:solidFill>
                <a:latin typeface="Microsoft YaHei"/>
              </a:rPr>
              <a:t>触发：同 Rail 所有 VT 同时恶化
判因：目的 leaf 下行或 NIC 入口 incast
动作：迁移到冷 Rail 的 VT
路径：其它 NIC 入站 → 本 Tray NVLink/PXN → 目标 GPU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010912"/>
            <a:ext cx="10607040" cy="685800"/>
          </a:xfrm>
          <a:prstGeom prst="roundRect">
            <a:avLst/>
          </a:prstGeom>
          <a:solidFill>
            <a:srgbClr val="133153"/>
          </a:solidFill>
          <a:ln>
            <a:solidFill>
              <a:srgbClr val="133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138928"/>
            <a:ext cx="101498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8FAFD"/>
                </a:solidFill>
                <a:latin typeface="Microsoft YaHei"/>
              </a:rPr>
              <a:t>避免过度反应：单 QP 冲突不应直接触发跨 Rail；跨 Rail 是处理最后一跳共享瓶颈的第二刀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4572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25C8DD"/>
                </a:solidFill>
                <a:latin typeface="Microsoft YaHei"/>
              </a:rPr>
              <a:t>PXN DATA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8FAFD"/>
                </a:solidFill>
                <a:latin typeface="Microsoft YaHei"/>
              </a:rPr>
              <a:t>收端 Incast 绕路：换入口 NIC，保持 QP 内有序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60704"/>
            <a:ext cx="914400" cy="45720"/>
          </a:xfrm>
          <a:prstGeom prst="rect">
            <a:avLst/>
          </a:prstGeom>
          <a:solidFill>
            <a:srgbClr val="266CFF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64808"/>
            <a:ext cx="3657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8294AE"/>
                </a:solidFill>
                <a:latin typeface="Microsoft YaHe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97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5C8DD"/>
                </a:solidFill>
                <a:latin typeface="Microsoft YaHei"/>
              </a:rPr>
              <a:t>正常路径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1115568" cy="347472"/>
          </a:xfrm>
          <a:prstGeom prst="roundRect">
            <a:avLst/>
          </a:prstGeom>
          <a:solidFill>
            <a:srgbClr val="266CFF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111556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8FAFD"/>
                </a:solidFill>
                <a:latin typeface="Microsoft YaHei"/>
              </a:rPr>
              <a:t>GPU i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920240" y="1956816"/>
            <a:ext cx="914400" cy="0"/>
          </a:xfrm>
          <a:prstGeom prst="line">
            <a:avLst/>
          </a:prstGeom>
          <a:ln w="38100">
            <a:solidFill>
              <a:srgbClr val="829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935224" y="1783080"/>
            <a:ext cx="1115568" cy="347472"/>
          </a:xfrm>
          <a:prstGeom prst="roundRect">
            <a:avLst/>
          </a:prstGeom>
          <a:solidFill>
            <a:srgbClr val="266CFF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35224" y="1783080"/>
            <a:ext cx="111556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8FAFD"/>
                </a:solidFill>
                <a:latin typeface="Microsoft YaHei"/>
              </a:rPr>
              <a:t>NIC i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078224" y="1956816"/>
            <a:ext cx="914400" cy="0"/>
          </a:xfrm>
          <a:prstGeom prst="line">
            <a:avLst/>
          </a:prstGeom>
          <a:ln w="38100">
            <a:solidFill>
              <a:srgbClr val="829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093207" y="1783080"/>
            <a:ext cx="1115568" cy="347472"/>
          </a:xfrm>
          <a:prstGeom prst="roundRect">
            <a:avLst/>
          </a:prstGeom>
          <a:solidFill>
            <a:srgbClr val="266CFF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93207" y="1783080"/>
            <a:ext cx="111556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8FAFD"/>
                </a:solidFill>
                <a:latin typeface="Microsoft YaHei"/>
              </a:rPr>
              <a:t>Rail 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236207" y="1956816"/>
            <a:ext cx="914400" cy="0"/>
          </a:xfrm>
          <a:prstGeom prst="line">
            <a:avLst/>
          </a:prstGeom>
          <a:ln w="38100">
            <a:solidFill>
              <a:srgbClr val="829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251192" y="1783080"/>
            <a:ext cx="1115568" cy="347472"/>
          </a:xfrm>
          <a:prstGeom prst="roundRect">
            <a:avLst/>
          </a:prstGeom>
          <a:solidFill>
            <a:srgbClr val="266CFF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51192" y="1783080"/>
            <a:ext cx="111556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8FAFD"/>
                </a:solidFill>
                <a:latin typeface="Microsoft YaHei"/>
              </a:rPr>
              <a:t>NIC 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394192" y="1956816"/>
            <a:ext cx="914400" cy="0"/>
          </a:xfrm>
          <a:prstGeom prst="line">
            <a:avLst/>
          </a:prstGeom>
          <a:ln w="38100">
            <a:solidFill>
              <a:srgbClr val="829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409176" y="1783080"/>
            <a:ext cx="1115568" cy="347472"/>
          </a:xfrm>
          <a:prstGeom prst="roundRect">
            <a:avLst/>
          </a:prstGeom>
          <a:solidFill>
            <a:srgbClr val="266CFF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09176" y="1783080"/>
            <a:ext cx="111556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8FAFD"/>
                </a:solidFill>
                <a:latin typeface="Microsoft YaHei"/>
              </a:rPr>
              <a:t>GPU 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2907792"/>
            <a:ext cx="21031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1B573"/>
                </a:solidFill>
                <a:latin typeface="Microsoft YaHei"/>
              </a:rPr>
              <a:t>Incast 后下一 Epoch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3364992"/>
            <a:ext cx="896112" cy="347472"/>
          </a:xfrm>
          <a:prstGeom prst="roundRect">
            <a:avLst/>
          </a:prstGeom>
          <a:solidFill>
            <a:srgbClr val="266CFF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364992"/>
            <a:ext cx="8961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8FAFD"/>
                </a:solidFill>
                <a:latin typeface="Microsoft YaHei"/>
              </a:rPr>
              <a:t>GPU i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664207" y="3538728"/>
            <a:ext cx="621793" cy="0"/>
          </a:xfrm>
          <a:prstGeom prst="line">
            <a:avLst/>
          </a:prstGeom>
          <a:ln w="25400">
            <a:solidFill>
              <a:srgbClr val="829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2377440" y="3364992"/>
            <a:ext cx="896112" cy="347472"/>
          </a:xfrm>
          <a:prstGeom prst="roundRect">
            <a:avLst/>
          </a:prstGeom>
          <a:solidFill>
            <a:srgbClr val="21B573"/>
          </a:solidFill>
          <a:ln>
            <a:solidFill>
              <a:srgbClr val="21B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377440" y="3364992"/>
            <a:ext cx="8961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8FAFD"/>
                </a:solidFill>
                <a:latin typeface="Microsoft YaHei"/>
              </a:rPr>
              <a:t>GPU k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291840" y="3538728"/>
            <a:ext cx="621792" cy="0"/>
          </a:xfrm>
          <a:prstGeom prst="line">
            <a:avLst/>
          </a:prstGeom>
          <a:ln w="25400">
            <a:solidFill>
              <a:srgbClr val="829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4005072" y="3364992"/>
            <a:ext cx="896112" cy="347472"/>
          </a:xfrm>
          <a:prstGeom prst="roundRect">
            <a:avLst/>
          </a:prstGeom>
          <a:solidFill>
            <a:srgbClr val="21B573"/>
          </a:solidFill>
          <a:ln>
            <a:solidFill>
              <a:srgbClr val="21B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005072" y="3364992"/>
            <a:ext cx="8961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8FAFD"/>
                </a:solidFill>
                <a:latin typeface="Microsoft YaHei"/>
              </a:rPr>
              <a:t>NIC k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919472" y="3538728"/>
            <a:ext cx="621792" cy="0"/>
          </a:xfrm>
          <a:prstGeom prst="line">
            <a:avLst/>
          </a:prstGeom>
          <a:ln w="25400">
            <a:solidFill>
              <a:srgbClr val="829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5632704" y="3364992"/>
            <a:ext cx="896112" cy="347472"/>
          </a:xfrm>
          <a:prstGeom prst="roundRect">
            <a:avLst/>
          </a:prstGeom>
          <a:solidFill>
            <a:srgbClr val="21B573"/>
          </a:solidFill>
          <a:ln>
            <a:solidFill>
              <a:srgbClr val="21B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32704" y="3364992"/>
            <a:ext cx="8961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8FAFD"/>
                </a:solidFill>
                <a:latin typeface="Microsoft YaHei"/>
              </a:rPr>
              <a:t>Rail k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547104" y="3538728"/>
            <a:ext cx="621792" cy="0"/>
          </a:xfrm>
          <a:prstGeom prst="line">
            <a:avLst/>
          </a:prstGeom>
          <a:ln w="25400">
            <a:solidFill>
              <a:srgbClr val="829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260336" y="3364992"/>
            <a:ext cx="896112" cy="347472"/>
          </a:xfrm>
          <a:prstGeom prst="roundRect">
            <a:avLst/>
          </a:prstGeom>
          <a:solidFill>
            <a:srgbClr val="21B573"/>
          </a:solidFill>
          <a:ln>
            <a:solidFill>
              <a:srgbClr val="21B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60336" y="3364992"/>
            <a:ext cx="8961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8FAFD"/>
                </a:solidFill>
                <a:latin typeface="Microsoft YaHei"/>
              </a:rPr>
              <a:t>NIC k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174736" y="3538728"/>
            <a:ext cx="621792" cy="0"/>
          </a:xfrm>
          <a:prstGeom prst="line">
            <a:avLst/>
          </a:prstGeom>
          <a:ln w="25400">
            <a:solidFill>
              <a:srgbClr val="829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8887968" y="3364992"/>
            <a:ext cx="896112" cy="347472"/>
          </a:xfrm>
          <a:prstGeom prst="roundRect">
            <a:avLst/>
          </a:prstGeom>
          <a:solidFill>
            <a:srgbClr val="21B573"/>
          </a:solidFill>
          <a:ln>
            <a:solidFill>
              <a:srgbClr val="21B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887968" y="3364992"/>
            <a:ext cx="8961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8FAFD"/>
                </a:solidFill>
                <a:latin typeface="Microsoft YaHei"/>
              </a:rPr>
              <a:t>GPU k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802368" y="3538728"/>
            <a:ext cx="621792" cy="0"/>
          </a:xfrm>
          <a:prstGeom prst="line">
            <a:avLst/>
          </a:prstGeom>
          <a:ln w="25400">
            <a:solidFill>
              <a:srgbClr val="829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10515600" y="3364992"/>
            <a:ext cx="896112" cy="347472"/>
          </a:xfrm>
          <a:prstGeom prst="roundRect">
            <a:avLst/>
          </a:prstGeom>
          <a:solidFill>
            <a:srgbClr val="266CFF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515600" y="3364992"/>
            <a:ext cx="8961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8FAFD"/>
                </a:solidFill>
                <a:latin typeface="Microsoft YaHei"/>
              </a:rPr>
              <a:t>GPU 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81912" y="3822191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25C8DD"/>
                </a:solidFill>
                <a:latin typeface="Microsoft YaHei"/>
              </a:rPr>
              <a:t>NVLink/PXN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93792" y="3822191"/>
            <a:ext cx="1965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25C8DD"/>
                </a:solidFill>
                <a:latin typeface="Microsoft YaHei"/>
              </a:rPr>
              <a:t>Ethernet / ECMP（保序）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92056" y="3822191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25C8DD"/>
                </a:solidFill>
                <a:latin typeface="Microsoft YaHei"/>
              </a:rPr>
              <a:t>NVLink/PXN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77240" y="4736592"/>
            <a:ext cx="10561320" cy="1005840"/>
          </a:xfrm>
          <a:prstGeom prst="roundRect">
            <a:avLst/>
          </a:prstGeom>
          <a:solidFill>
            <a:srgbClr val="1C2739"/>
          </a:solidFill>
          <a:ln>
            <a:solidFill>
              <a:srgbClr val="33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77240" y="4736592"/>
            <a:ext cx="64008" cy="1005840"/>
          </a:xfrm>
          <a:prstGeom prst="rect">
            <a:avLst/>
          </a:prstGeom>
          <a:solidFill>
            <a:srgbClr val="FF9933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78408" y="4846320"/>
            <a:ext cx="10241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8FAFD"/>
                </a:solidFill>
                <a:latin typeface="Microsoft YaHei"/>
              </a:rPr>
              <a:t>容量判断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8408" y="5221224"/>
            <a:ext cx="102138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5ECF5"/>
                </a:solidFill>
                <a:latin typeface="Microsoft YaHei"/>
              </a:rPr>
              <a:t>CX8 800 Gb/s 约 100 GB/s；即使多个 Rail 向单 GPU 汇聚，NVLink5 仍有足够带宽。主要瓶颈仍是 Ethernet leaf，而不是 NVLink。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4572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25C8DD"/>
                </a:solidFill>
                <a:latin typeface="Microsoft YaHei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8FAFD"/>
                </a:solidFill>
                <a:latin typeface="Microsoft YaHei"/>
              </a:rPr>
              <a:t>遥测与判因：库内 Stall 为主，交换机 INT 为辅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60704"/>
            <a:ext cx="914400" cy="45720"/>
          </a:xfrm>
          <a:prstGeom prst="rect">
            <a:avLst/>
          </a:prstGeom>
          <a:solidFill>
            <a:srgbClr val="266CFF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64808"/>
            <a:ext cx="3657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8294AE"/>
                </a:solidFill>
                <a:latin typeface="Microsoft YaHei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89888"/>
            <a:ext cx="3337560" cy="3017520"/>
          </a:xfrm>
          <a:prstGeom prst="roundRect">
            <a:avLst/>
          </a:prstGeom>
          <a:solidFill>
            <a:srgbClr val="1C2739"/>
          </a:solidFill>
          <a:ln>
            <a:solidFill>
              <a:srgbClr val="33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389888"/>
            <a:ext cx="64008" cy="3017520"/>
          </a:xfrm>
          <a:prstGeom prst="rect">
            <a:avLst/>
          </a:prstGeom>
          <a:solidFill>
            <a:srgbClr val="266CFF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499616"/>
            <a:ext cx="3017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AFD"/>
                </a:solidFill>
                <a:latin typeface="Microsoft YaHei"/>
              </a:rPr>
              <a:t>通信库主信号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874519"/>
            <a:ext cx="2990088" cy="2423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5ECF5"/>
                </a:solidFill>
                <a:latin typeface="Microsoft YaHei"/>
              </a:rPr>
              <a:t>每 VT：tx/rx FIFO stall
完成字节、完成时间、重传/超时
在线估计有效带宽与预计完成时间
遥测 piggyback 在 collective 同步流量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1389888"/>
            <a:ext cx="3337560" cy="3017520"/>
          </a:xfrm>
          <a:prstGeom prst="roundRect">
            <a:avLst/>
          </a:prstGeom>
          <a:solidFill>
            <a:srgbClr val="1C2739"/>
          </a:solidFill>
          <a:ln>
            <a:solidFill>
              <a:srgbClr val="33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25696" y="1389888"/>
            <a:ext cx="64008" cy="3017520"/>
          </a:xfrm>
          <a:prstGeom prst="rect">
            <a:avLst/>
          </a:prstGeom>
          <a:solidFill>
            <a:srgbClr val="25C8DD"/>
          </a:solidFill>
          <a:ln>
            <a:solidFill>
              <a:srgbClr val="25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6864" y="1499616"/>
            <a:ext cx="3017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AFD"/>
                </a:solidFill>
                <a:latin typeface="Microsoft YaHei"/>
              </a:rPr>
              <a:t>交换机辅助信号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6864" y="1874519"/>
            <a:ext cx="2990088" cy="2423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5ECF5"/>
                </a:solidFill>
                <a:latin typeface="Microsoft YaHei"/>
              </a:rPr>
              <a:t>QP 实际 ECMP 上行 path_id
leaf→spine 出口队列 / ECN 档位
目的 leaf 下行 / NIC 端口队列
只观测与校验，不逐包改路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65592" y="1389888"/>
            <a:ext cx="3337560" cy="3017520"/>
          </a:xfrm>
          <a:prstGeom prst="roundRect">
            <a:avLst/>
          </a:prstGeom>
          <a:solidFill>
            <a:srgbClr val="1C2739"/>
          </a:solidFill>
          <a:ln>
            <a:solidFill>
              <a:srgbClr val="33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65592" y="1389888"/>
            <a:ext cx="64008" cy="3017520"/>
          </a:xfrm>
          <a:prstGeom prst="rect">
            <a:avLst/>
          </a:prstGeom>
          <a:solidFill>
            <a:srgbClr val="21B573"/>
          </a:solidFill>
          <a:ln>
            <a:solidFill>
              <a:srgbClr val="21B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499616"/>
            <a:ext cx="3017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AFD"/>
                </a:solidFill>
                <a:latin typeface="Microsoft YaHei"/>
              </a:rPr>
              <a:t>判因规则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1874519"/>
            <a:ext cx="2990088" cy="2423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5ECF5"/>
                </a:solidFill>
                <a:latin typeface="Microsoft YaHei"/>
              </a:rPr>
              <a:t>同 Rail 快慢分化 → L1 路径冲突
同 Rail 全慢 + 下行热 → L2 Incast
单 VT 连续超时 → 屏蔽
探测恢复后逐步加入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5074920"/>
            <a:ext cx="100584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9933"/>
                </a:solidFill>
                <a:latin typeface="Microsoft YaHei"/>
              </a:rPr>
              <a:t>没有交换机遥测时：用“同 Rail 是否全慢”作为启发式；准确性和收敛速度会下降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4572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25C8DD"/>
                </a:solidFill>
                <a:latin typeface="Microsoft YaHei"/>
              </a:rPr>
              <a:t>CONSISTENCY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8FAFD"/>
                </a:solidFill>
                <a:latin typeface="Microsoft YaHei"/>
              </a:rPr>
              <a:t>Epoch 协议：只在 Collective 边界一致生效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60704"/>
            <a:ext cx="914400" cy="45720"/>
          </a:xfrm>
          <a:prstGeom prst="rect">
            <a:avLst/>
          </a:prstGeom>
          <a:solidFill>
            <a:srgbClr val="266CFF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64808"/>
            <a:ext cx="3657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8294AE"/>
                </a:solidFill>
                <a:latin typeface="Microsoft YaHei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2395728" cy="2057400"/>
          </a:xfrm>
          <a:prstGeom prst="roundRect">
            <a:avLst/>
          </a:prstGeom>
          <a:solidFill>
            <a:srgbClr val="1C2739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0392" y="1682496"/>
            <a:ext cx="420624" cy="347472"/>
          </a:xfrm>
          <a:prstGeom prst="roundRect">
            <a:avLst/>
          </a:prstGeom>
          <a:solidFill>
            <a:srgbClr val="266CFF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682496"/>
            <a:ext cx="42062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8FAFD"/>
                </a:solidFill>
                <a:latin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99032" y="1664208"/>
            <a:ext cx="12344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8FAFD"/>
                </a:solidFill>
                <a:latin typeface="Microsoft YaHei"/>
              </a:rPr>
              <a:t>执行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67712"/>
            <a:ext cx="20116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E5ECF5"/>
                </a:solidFill>
                <a:latin typeface="Microsoft YaHei"/>
              </a:rPr>
              <a:t>用 wₑ 完成本次 CCT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08960" y="2542032"/>
            <a:ext cx="338328" cy="0"/>
          </a:xfrm>
          <a:prstGeom prst="line">
            <a:avLst/>
          </a:prstGeom>
          <a:ln w="38100">
            <a:solidFill>
              <a:srgbClr val="829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547872" y="1508760"/>
            <a:ext cx="2395728" cy="2057400"/>
          </a:xfrm>
          <a:prstGeom prst="roundRect">
            <a:avLst/>
          </a:prstGeom>
          <a:solidFill>
            <a:srgbClr val="1C2739"/>
          </a:solidFill>
          <a:ln>
            <a:solidFill>
              <a:srgbClr val="25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12463" y="1682496"/>
            <a:ext cx="420624" cy="347472"/>
          </a:xfrm>
          <a:prstGeom prst="roundRect">
            <a:avLst/>
          </a:prstGeom>
          <a:solidFill>
            <a:srgbClr val="25C8DD"/>
          </a:solidFill>
          <a:ln>
            <a:solidFill>
              <a:srgbClr val="25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12463" y="1682496"/>
            <a:ext cx="42062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8FAFD"/>
                </a:solidFill>
                <a:latin typeface="Microsoft Ya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61104" y="1664208"/>
            <a:ext cx="12344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8FAFD"/>
                </a:solidFill>
                <a:latin typeface="Microsoft YaHei"/>
              </a:rPr>
              <a:t>汇总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30752" y="2267712"/>
            <a:ext cx="20116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E5ECF5"/>
                </a:solidFill>
                <a:latin typeface="Microsoft YaHei"/>
              </a:rPr>
              <a:t>交换同一 epoch 的 VT 遥测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71031" y="2542032"/>
            <a:ext cx="338329" cy="0"/>
          </a:xfrm>
          <a:prstGeom prst="line">
            <a:avLst/>
          </a:prstGeom>
          <a:ln w="38100">
            <a:solidFill>
              <a:srgbClr val="829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409944" y="1508760"/>
            <a:ext cx="2395728" cy="2057400"/>
          </a:xfrm>
          <a:prstGeom prst="roundRect">
            <a:avLst/>
          </a:prstGeom>
          <a:solidFill>
            <a:srgbClr val="1C2739"/>
          </a:solidFill>
          <a:ln>
            <a:solidFill>
              <a:srgbClr val="21B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74536" y="1682496"/>
            <a:ext cx="420624" cy="347472"/>
          </a:xfrm>
          <a:prstGeom prst="roundRect">
            <a:avLst/>
          </a:prstGeom>
          <a:solidFill>
            <a:srgbClr val="21B573"/>
          </a:solidFill>
          <a:ln>
            <a:solidFill>
              <a:srgbClr val="21B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74536" y="1682496"/>
            <a:ext cx="42062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8FAFD"/>
                </a:solidFill>
                <a:latin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23176" y="1664208"/>
            <a:ext cx="12344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8FAFD"/>
                </a:solidFill>
                <a:latin typeface="Microsoft YaHei"/>
              </a:rPr>
              <a:t>计算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92824" y="2267712"/>
            <a:ext cx="20116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E5ECF5"/>
                </a:solidFill>
                <a:latin typeface="Microsoft YaHei"/>
              </a:rPr>
              <a:t>各 rank 确定性生成 wₑ₊₁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833104" y="2542032"/>
            <a:ext cx="338328" cy="0"/>
          </a:xfrm>
          <a:prstGeom prst="line">
            <a:avLst/>
          </a:prstGeom>
          <a:ln w="38100">
            <a:solidFill>
              <a:srgbClr val="829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272016" y="1508760"/>
            <a:ext cx="2395728" cy="2057400"/>
          </a:xfrm>
          <a:prstGeom prst="roundRect">
            <a:avLst/>
          </a:prstGeom>
          <a:solidFill>
            <a:srgbClr val="1C2739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436608" y="1682496"/>
            <a:ext cx="420624" cy="347472"/>
          </a:xfrm>
          <a:prstGeom prst="roundRect">
            <a:avLst/>
          </a:prstGeom>
          <a:solidFill>
            <a:srgbClr val="FF9933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1682496"/>
            <a:ext cx="42062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8FAFD"/>
                </a:solidFill>
                <a:latin typeface="Microsoft YaHe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85248" y="1664208"/>
            <a:ext cx="12344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8FAFD"/>
                </a:solidFill>
                <a:latin typeface="Microsoft YaHei"/>
              </a:rPr>
              <a:t>生效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54896" y="2267712"/>
            <a:ext cx="20116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E5ECF5"/>
                </a:solidFill>
                <a:latin typeface="Microsoft YaHei"/>
              </a:rPr>
              <a:t>下一次 CCT 同步切换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9808" y="4224528"/>
            <a:ext cx="10652760" cy="914400"/>
          </a:xfrm>
          <a:prstGeom prst="roundRect">
            <a:avLst/>
          </a:prstGeom>
          <a:solidFill>
            <a:srgbClr val="1C2739"/>
          </a:solidFill>
          <a:ln>
            <a:solidFill>
              <a:srgbClr val="33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49808" y="4224528"/>
            <a:ext cx="64008" cy="914400"/>
          </a:xfrm>
          <a:prstGeom prst="rect">
            <a:avLst/>
          </a:prstGeom>
          <a:solidFill>
            <a:srgbClr val="E14848"/>
          </a:solidFill>
          <a:ln>
            <a:solidFill>
              <a:srgbClr val="E1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0976" y="4334256"/>
            <a:ext cx="10332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8FAFD"/>
                </a:solidFill>
                <a:latin typeface="Microsoft YaHei"/>
              </a:rPr>
              <a:t>稳定性约束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976" y="4709160"/>
            <a:ext cx="1030528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5ECF5"/>
                </a:solidFill>
                <a:latin typeface="Microsoft YaHei"/>
              </a:rPr>
              <a:t>每 VT 保留最小探测份额  |  单步权重变化限幅  |  进入/退出阈值分离  |  部分故障屏蔽、周期探活  |  禁止迁移已提交到 QP 的字节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5559552"/>
            <a:ext cx="10058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25C8DD"/>
                </a:solidFill>
                <a:latin typeface="Microsoft YaHei"/>
              </a:rPr>
              <a:t>核心不变量：所有 rank 对同一次 collective 使用完全相同的 VT 字节划分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4572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25C8DD"/>
                </a:solidFill>
                <a:latin typeface="Microsoft YaHei"/>
              </a:rPr>
              <a:t>ALLOCATOR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8FAFD"/>
                </a:solidFill>
                <a:latin typeface="Microsoft YaHei"/>
              </a:rPr>
              <a:t>分配器：层次化优化，不做独立 AIMD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60704"/>
            <a:ext cx="914400" cy="45720"/>
          </a:xfrm>
          <a:prstGeom prst="rect">
            <a:avLst/>
          </a:prstGeom>
          <a:solidFill>
            <a:srgbClr val="266CFF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64808"/>
            <a:ext cx="3657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8294AE"/>
                </a:solidFill>
                <a:latin typeface="Microsoft YaHei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53312"/>
            <a:ext cx="10972800" cy="960120"/>
          </a:xfrm>
          <a:prstGeom prst="roundRect">
            <a:avLst/>
          </a:prstGeom>
          <a:solidFill>
            <a:srgbClr val="133153"/>
          </a:solidFill>
          <a:ln>
            <a:solidFill>
              <a:srgbClr val="133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91056"/>
            <a:ext cx="105156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F8FAFD"/>
                </a:solidFill>
                <a:latin typeface="Microsoft YaHei"/>
              </a:rPr>
              <a:t>目标：让所有健康 VT 的预计完成时间接近，同时最小化跨 Rail/PXN 成本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788920"/>
            <a:ext cx="3401568" cy="1737360"/>
          </a:xfrm>
          <a:prstGeom prst="roundRect">
            <a:avLst/>
          </a:prstGeom>
          <a:solidFill>
            <a:srgbClr val="1C2739"/>
          </a:solidFill>
          <a:ln>
            <a:solidFill>
              <a:srgbClr val="33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2788920"/>
            <a:ext cx="64008" cy="1737360"/>
          </a:xfrm>
          <a:prstGeom prst="rect">
            <a:avLst/>
          </a:prstGeom>
          <a:solidFill>
            <a:srgbClr val="25C8DD"/>
          </a:solidFill>
          <a:ln>
            <a:solidFill>
              <a:srgbClr val="25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898648"/>
            <a:ext cx="308152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AFD"/>
                </a:solidFill>
                <a:latin typeface="Microsoft YaHei"/>
              </a:rPr>
              <a:t>Rail 内分配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3273552"/>
            <a:ext cx="3054096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5ECF5"/>
                </a:solidFill>
                <a:latin typeface="Microsoft YaHei"/>
              </a:rPr>
              <a:t>按 VT 有效带宽切份额
保持 Rail 总份额不变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187952" y="3657600"/>
            <a:ext cx="265176" cy="0"/>
          </a:xfrm>
          <a:prstGeom prst="line">
            <a:avLst/>
          </a:prstGeom>
          <a:ln w="38100">
            <a:solidFill>
              <a:srgbClr val="829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517136" y="2788920"/>
            <a:ext cx="3401568" cy="1737360"/>
          </a:xfrm>
          <a:prstGeom prst="roundRect">
            <a:avLst/>
          </a:prstGeom>
          <a:solidFill>
            <a:srgbClr val="1C2739"/>
          </a:solidFill>
          <a:ln>
            <a:solidFill>
              <a:srgbClr val="33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17136" y="2788920"/>
            <a:ext cx="64008" cy="1737360"/>
          </a:xfrm>
          <a:prstGeom prst="rect">
            <a:avLst/>
          </a:prstGeom>
          <a:solidFill>
            <a:srgbClr val="21B573"/>
          </a:solidFill>
          <a:ln>
            <a:solidFill>
              <a:srgbClr val="21B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18304" y="2898648"/>
            <a:ext cx="308152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AFD"/>
                </a:solidFill>
                <a:latin typeface="Microsoft YaHei"/>
              </a:rPr>
              <a:t>Rail 间分配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18304" y="3273552"/>
            <a:ext cx="3054096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5ECF5"/>
                </a:solidFill>
                <a:latin typeface="Microsoft YaHei"/>
              </a:rPr>
              <a:t>仅当 Rail 整体异常
降低热 Rail 总份额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955279" y="3657600"/>
            <a:ext cx="265177" cy="0"/>
          </a:xfrm>
          <a:prstGeom prst="line">
            <a:avLst/>
          </a:prstGeom>
          <a:ln w="38100">
            <a:solidFill>
              <a:srgbClr val="829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284464" y="2788920"/>
            <a:ext cx="3401568" cy="1737360"/>
          </a:xfrm>
          <a:prstGeom prst="roundRect">
            <a:avLst/>
          </a:prstGeom>
          <a:solidFill>
            <a:srgbClr val="1C2739"/>
          </a:solidFill>
          <a:ln>
            <a:solidFill>
              <a:srgbClr val="33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84464" y="2788920"/>
            <a:ext cx="64008" cy="1737360"/>
          </a:xfrm>
          <a:prstGeom prst="rect">
            <a:avLst/>
          </a:prstGeom>
          <a:solidFill>
            <a:srgbClr val="FF9933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85632" y="2898648"/>
            <a:ext cx="308152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AFD"/>
                </a:solidFill>
                <a:latin typeface="Microsoft YaHei"/>
              </a:rPr>
              <a:t>约束投影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85632" y="3273552"/>
            <a:ext cx="3054096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5ECF5"/>
                </a:solidFill>
                <a:latin typeface="Microsoft YaHei"/>
              </a:rPr>
              <a:t>最小份额、变化限幅
NIC/GPU/PXN 容量上限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230368"/>
            <a:ext cx="10058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E14848"/>
                </a:solidFill>
                <a:latin typeface="Microsoft YaHei"/>
              </a:rPr>
              <a:t>禁止：每 VT 独立 AIMD → 多个 VT 同时追逐“冷路径”，导致周期性振荡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4572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25C8DD"/>
                </a:solidFill>
                <a:latin typeface="Microsoft YaHei"/>
              </a:rPr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8FAFD"/>
                </a:solidFill>
                <a:latin typeface="Microsoft YaHei"/>
              </a:rPr>
              <a:t>实施边界与依赖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60704"/>
            <a:ext cx="914400" cy="45720"/>
          </a:xfrm>
          <a:prstGeom prst="rect">
            <a:avLst/>
          </a:prstGeom>
          <a:solidFill>
            <a:srgbClr val="266CFF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64808"/>
            <a:ext cx="3657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8294AE"/>
                </a:solidFill>
                <a:latin typeface="Microsoft YaHei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3383280" cy="2057400"/>
          </a:xfrm>
          <a:prstGeom prst="roundRect">
            <a:avLst/>
          </a:prstGeom>
          <a:solidFill>
            <a:srgbClr val="1C2739"/>
          </a:solidFill>
          <a:ln>
            <a:solidFill>
              <a:srgbClr val="33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371600"/>
            <a:ext cx="64008" cy="2057400"/>
          </a:xfrm>
          <a:prstGeom prst="rect">
            <a:avLst/>
          </a:prstGeom>
          <a:solidFill>
            <a:srgbClr val="21B573"/>
          </a:solidFill>
          <a:ln>
            <a:solidFill>
              <a:srgbClr val="21B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481328"/>
            <a:ext cx="3063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AFD"/>
                </a:solidFill>
                <a:latin typeface="Microsoft YaHei"/>
              </a:rPr>
              <a:t>首期范围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856232"/>
            <a:ext cx="3035808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5ECF5"/>
                </a:solidFill>
                <a:latin typeface="Microsoft YaHei"/>
              </a:rPr>
              <a:t>跨 NVL72 机柜的 Ethernet collective
大消息 AllReduce / AllGather / RS
再扩展 AlltoAll 与 EP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371600"/>
            <a:ext cx="3383280" cy="2057400"/>
          </a:xfrm>
          <a:prstGeom prst="roundRect">
            <a:avLst/>
          </a:prstGeom>
          <a:solidFill>
            <a:srgbClr val="1C2739"/>
          </a:solidFill>
          <a:ln>
            <a:solidFill>
              <a:srgbClr val="33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07408" y="1371600"/>
            <a:ext cx="64008" cy="2057400"/>
          </a:xfrm>
          <a:prstGeom prst="rect">
            <a:avLst/>
          </a:prstGeom>
          <a:solidFill>
            <a:srgbClr val="266CFF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8576" y="1481328"/>
            <a:ext cx="3063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AFD"/>
                </a:solidFill>
                <a:latin typeface="Microsoft YaHei"/>
              </a:rPr>
              <a:t>软件依赖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1856232"/>
            <a:ext cx="3035808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5ECF5"/>
                </a:solidFill>
                <a:latin typeface="Microsoft YaHei"/>
              </a:rPr>
              <a:t>通信库：独立 channel/QP 与 epoch
Rank 映射：4 GPU tray 对齐
PXN：同 OS 内代理 GPU/NIC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9016" y="1371600"/>
            <a:ext cx="3383280" cy="2057400"/>
          </a:xfrm>
          <a:prstGeom prst="roundRect">
            <a:avLst/>
          </a:prstGeom>
          <a:solidFill>
            <a:srgbClr val="1C2739"/>
          </a:solidFill>
          <a:ln>
            <a:solidFill>
              <a:srgbClr val="33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29016" y="1371600"/>
            <a:ext cx="64008" cy="2057400"/>
          </a:xfrm>
          <a:prstGeom prst="rect">
            <a:avLst/>
          </a:prstGeom>
          <a:solidFill>
            <a:srgbClr val="25C8DD"/>
          </a:solidFill>
          <a:ln>
            <a:solidFill>
              <a:srgbClr val="25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0184" y="1481328"/>
            <a:ext cx="3063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AFD"/>
                </a:solidFill>
                <a:latin typeface="Microsoft YaHei"/>
              </a:rPr>
              <a:t>网络依赖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0184" y="1856232"/>
            <a:ext cx="3035808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5ECF5"/>
                </a:solidFill>
                <a:latin typeface="Microsoft YaHei"/>
              </a:rPr>
              <a:t>固定 sport 的 ECMP
可查询/探测 path_id
per-port 队列或 ECN/INT 遥测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950208"/>
            <a:ext cx="12801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E14848"/>
                </a:solidFill>
                <a:latin typeface="Microsoft YaHei"/>
              </a:rPr>
              <a:t>明确不做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315968"/>
            <a:ext cx="10561320" cy="160020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E5ECF5"/>
                </a:solidFill>
                <a:latin typeface="Microsoft YaHei"/>
              </a:defRPr>
            </a:pPr>
            <a:r>
              <a:t>•  不优化机柜内 NVLink/NVLS；不把 72 张 NIC 做成单个 RDMA 端点池</a:t>
            </a:r>
          </a:p>
          <a:p>
            <a:pPr>
              <a:spcAft>
                <a:spcPts val="1100"/>
              </a:spcAft>
              <a:defRPr sz="1600">
                <a:solidFill>
                  <a:srgbClr val="E5ECF5"/>
                </a:solidFill>
                <a:latin typeface="Microsoft YaHei"/>
              </a:defRPr>
            </a:pPr>
            <a:r>
              <a:t>•  不逐包喷洒；不实现软件乱序接收或选择性重传</a:t>
            </a:r>
          </a:p>
          <a:p>
            <a:pPr>
              <a:spcAft>
                <a:spcPts val="1100"/>
              </a:spcAft>
              <a:defRPr sz="1600">
                <a:solidFill>
                  <a:srgbClr val="E5ECF5"/>
                </a:solidFill>
                <a:latin typeface="Microsoft YaHei"/>
              </a:defRPr>
            </a:pPr>
            <a:r>
              <a:t>•  不在 CCT 中途切权重；小消息默认关闭动态调整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4572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25C8DD"/>
                </a:solidFill>
                <a:latin typeface="Microsoft YaHei"/>
              </a:rP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8FAFD"/>
                </a:solidFill>
                <a:latin typeface="Microsoft YaHei"/>
              </a:rPr>
              <a:t>验证路线与成功判据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60704"/>
            <a:ext cx="914400" cy="45720"/>
          </a:xfrm>
          <a:prstGeom prst="rect">
            <a:avLst/>
          </a:prstGeom>
          <a:solidFill>
            <a:srgbClr val="266CFF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64808"/>
            <a:ext cx="3657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8294AE"/>
                </a:solidFill>
                <a:latin typeface="Microsoft YaHei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3401568" cy="2359152"/>
          </a:xfrm>
          <a:prstGeom prst="roundRect">
            <a:avLst/>
          </a:prstGeom>
          <a:solidFill>
            <a:srgbClr val="1C2739"/>
          </a:solidFill>
          <a:ln>
            <a:solidFill>
              <a:srgbClr val="33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371600"/>
            <a:ext cx="64008" cy="2359152"/>
          </a:xfrm>
          <a:prstGeom prst="rect">
            <a:avLst/>
          </a:prstGeom>
          <a:solidFill>
            <a:srgbClr val="266CFF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481328"/>
            <a:ext cx="308152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8FAFD"/>
                </a:solidFill>
                <a:latin typeface="Microsoft YaHei"/>
              </a:rPr>
              <a:t>阶段 1
路径与成本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856232"/>
            <a:ext cx="3054096" cy="1764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5ECF5"/>
                </a:solidFill>
                <a:latin typeface="Microsoft YaHei"/>
              </a:rPr>
              <a:t>sport→path 稳定性
1/2/4/8 QP 性能
本地 NIC vs PXN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371600"/>
            <a:ext cx="3401568" cy="2359152"/>
          </a:xfrm>
          <a:prstGeom prst="roundRect">
            <a:avLst/>
          </a:prstGeom>
          <a:solidFill>
            <a:srgbClr val="1C2739"/>
          </a:solidFill>
          <a:ln>
            <a:solidFill>
              <a:srgbClr val="33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371600"/>
            <a:ext cx="64008" cy="2359152"/>
          </a:xfrm>
          <a:prstGeom prst="rect">
            <a:avLst/>
          </a:prstGeom>
          <a:solidFill>
            <a:srgbClr val="25C8DD"/>
          </a:solidFill>
          <a:ln>
            <a:solidFill>
              <a:srgbClr val="25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1481328"/>
            <a:ext cx="308152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8FAFD"/>
                </a:solidFill>
                <a:latin typeface="Microsoft YaHei"/>
              </a:rPr>
              <a:t>阶段 2
故障注入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1856232"/>
            <a:ext cx="3054096" cy="1764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5ECF5"/>
                </a:solidFill>
                <a:latin typeface="Microsoft YaHei"/>
              </a:rPr>
              <a:t>单上行冲突 → L1
目的端 incast → L2
限速/丢包/失效恢复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371600"/>
            <a:ext cx="3401568" cy="2359152"/>
          </a:xfrm>
          <a:prstGeom prst="roundRect">
            <a:avLst/>
          </a:prstGeom>
          <a:solidFill>
            <a:srgbClr val="1C2739"/>
          </a:solidFill>
          <a:ln>
            <a:solidFill>
              <a:srgbClr val="33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79" y="1371600"/>
            <a:ext cx="64008" cy="2359152"/>
          </a:xfrm>
          <a:prstGeom prst="rect">
            <a:avLst/>
          </a:prstGeom>
          <a:solidFill>
            <a:srgbClr val="21B573"/>
          </a:solidFill>
          <a:ln>
            <a:solidFill>
              <a:srgbClr val="21B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5048" y="1481328"/>
            <a:ext cx="308152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8FAFD"/>
                </a:solidFill>
                <a:latin typeface="Microsoft YaHei"/>
              </a:rPr>
              <a:t>阶段 3
训练验证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8" y="1856232"/>
            <a:ext cx="3054096" cy="1764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5ECF5"/>
                </a:solidFill>
                <a:latin typeface="Microsoft YaHei"/>
              </a:rPr>
              <a:t>32/72/144/576 GPU
多租户与多消息尺寸
P50/P95/P99 CCT/JCT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270248"/>
            <a:ext cx="10972800" cy="1170432"/>
          </a:xfrm>
          <a:prstGeom prst="roundRect">
            <a:avLst/>
          </a:prstGeom>
          <a:solidFill>
            <a:srgbClr val="133153"/>
          </a:solidFill>
          <a:ln>
            <a:solidFill>
              <a:srgbClr val="133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425696"/>
            <a:ext cx="14630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8FAFD"/>
                </a:solidFill>
                <a:latin typeface="Microsoft YaHei"/>
              </a:rPr>
              <a:t>≥98%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828032"/>
            <a:ext cx="14630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8294AE"/>
                </a:solidFill>
                <a:latin typeface="Microsoft YaHei"/>
              </a:rPr>
              <a:t>无拥塞性能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4425696"/>
            <a:ext cx="14630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8FAFD"/>
                </a:solidFill>
                <a:latin typeface="Microsoft YaHei"/>
              </a:rPr>
              <a:t>3–5 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828032"/>
            <a:ext cx="14630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8294AE"/>
                </a:solidFill>
                <a:latin typeface="Microsoft YaHei"/>
              </a:rPr>
              <a:t>L1 收敛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425696"/>
            <a:ext cx="14630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8FAFD"/>
                </a:solidFill>
                <a:latin typeface="Microsoft YaHei"/>
              </a:rPr>
              <a:t>显著下降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828032"/>
            <a:ext cx="14630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8294AE"/>
                </a:solidFill>
                <a:latin typeface="Microsoft YaHei"/>
              </a:rPr>
              <a:t>Incast P95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4425696"/>
            <a:ext cx="14630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8FAFD"/>
                </a:solidFill>
                <a:latin typeface="Microsoft YaHei"/>
              </a:rPr>
              <a:t>不挂死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4828032"/>
            <a:ext cx="14630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8294AE"/>
                </a:solidFill>
                <a:latin typeface="Microsoft YaHei"/>
              </a:rPr>
              <a:t>单 VT 故障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4572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25C8DD"/>
                </a:solidFill>
                <a:latin typeface="Microsoft YaHei"/>
              </a:rPr>
              <a:t>RISK REGISTER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8FAFD"/>
                </a:solidFill>
                <a:latin typeface="Microsoft YaHei"/>
              </a:rPr>
              <a:t>主要风险与应对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60704"/>
            <a:ext cx="914400" cy="45720"/>
          </a:xfrm>
          <a:prstGeom prst="rect">
            <a:avLst/>
          </a:prstGeom>
          <a:solidFill>
            <a:srgbClr val="266CFF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64808"/>
            <a:ext cx="3657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8294AE"/>
                </a:solidFill>
                <a:latin typeface="Microsoft YaHei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325880"/>
            <a:ext cx="1261872" cy="347472"/>
          </a:xfrm>
          <a:prstGeom prst="roundRect">
            <a:avLst/>
          </a:prstGeom>
          <a:solidFill>
            <a:srgbClr val="E14848"/>
          </a:solidFill>
          <a:ln>
            <a:solidFill>
              <a:srgbClr val="E1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325880"/>
            <a:ext cx="12618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8FAFD"/>
                </a:solidFill>
                <a:latin typeface="Microsoft YaHei"/>
              </a:rPr>
              <a:t>虚假多路径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12848" y="1325880"/>
            <a:ext cx="3017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E5ECF5"/>
                </a:solidFill>
                <a:latin typeface="Microsoft YaHei"/>
              </a:rPr>
              <a:t>多个 QP 实际落同一上行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303520" y="1499616"/>
            <a:ext cx="502920" cy="0"/>
          </a:xfrm>
          <a:prstGeom prst="line">
            <a:avLst/>
          </a:prstGeom>
          <a:ln w="25400">
            <a:solidFill>
              <a:srgbClr val="829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89320" y="1307592"/>
            <a:ext cx="52120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8FAFD"/>
                </a:solidFill>
                <a:latin typeface="Microsoft YaHei"/>
              </a:rPr>
              <a:t>初始化 path_id 校验；无正交则降 VT 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2276856"/>
            <a:ext cx="1261872" cy="347472"/>
          </a:xfrm>
          <a:prstGeom prst="roundRect">
            <a:avLst/>
          </a:prstGeom>
          <a:solidFill>
            <a:srgbClr val="FF9933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276856"/>
            <a:ext cx="12618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8FAFD"/>
                </a:solidFill>
                <a:latin typeface="Microsoft YaHei"/>
              </a:rPr>
              <a:t>PXN 不可用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12848" y="2276856"/>
            <a:ext cx="3017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E5ECF5"/>
                </a:solidFill>
                <a:latin typeface="Microsoft YaHei"/>
              </a:rPr>
              <a:t>Rank/并行维与 tray、rail 不对齐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303520" y="2450592"/>
            <a:ext cx="502920" cy="0"/>
          </a:xfrm>
          <a:prstGeom prst="line">
            <a:avLst/>
          </a:prstGeom>
          <a:ln w="25400">
            <a:solidFill>
              <a:srgbClr val="829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989320" y="2258568"/>
            <a:ext cx="52120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8FAFD"/>
                </a:solidFill>
                <a:latin typeface="Microsoft YaHei"/>
              </a:rPr>
              <a:t>调度器按 4 GPU tray 对齐 communicator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227832"/>
            <a:ext cx="1261872" cy="347472"/>
          </a:xfrm>
          <a:prstGeom prst="roundRect">
            <a:avLst/>
          </a:prstGeom>
          <a:solidFill>
            <a:srgbClr val="E14848"/>
          </a:solidFill>
          <a:ln>
            <a:solidFill>
              <a:srgbClr val="E1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3227832"/>
            <a:ext cx="12618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8FAFD"/>
                </a:solidFill>
                <a:latin typeface="Microsoft YaHei"/>
              </a:rPr>
              <a:t>控制振荡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12848" y="3227832"/>
            <a:ext cx="3017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E5ECF5"/>
                </a:solidFill>
                <a:latin typeface="Microsoft YaHei"/>
              </a:rPr>
              <a:t>遥测噪声、多个 VT 同时迁移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303520" y="3401568"/>
            <a:ext cx="502920" cy="0"/>
          </a:xfrm>
          <a:prstGeom prst="line">
            <a:avLst/>
          </a:prstGeom>
          <a:ln w="25400">
            <a:solidFill>
              <a:srgbClr val="829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989320" y="3209544"/>
            <a:ext cx="52120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8FAFD"/>
                </a:solidFill>
                <a:latin typeface="Microsoft YaHei"/>
              </a:rPr>
              <a:t>层次化分配、滞回、限幅、全局目标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4178808"/>
            <a:ext cx="1261872" cy="347472"/>
          </a:xfrm>
          <a:prstGeom prst="roundRect">
            <a:avLst/>
          </a:prstGeom>
          <a:solidFill>
            <a:srgbClr val="FF9933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4178808"/>
            <a:ext cx="12618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8FAFD"/>
                </a:solidFill>
                <a:latin typeface="Microsoft YaHei"/>
              </a:rPr>
              <a:t>资源反噬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12848" y="4178808"/>
            <a:ext cx="3017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E5ECF5"/>
                </a:solidFill>
                <a:latin typeface="Microsoft YaHei"/>
              </a:rPr>
              <a:t>Channel 多导致小 chunk、QP cache/SM 开销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303520" y="4352544"/>
            <a:ext cx="502920" cy="0"/>
          </a:xfrm>
          <a:prstGeom prst="line">
            <a:avLst/>
          </a:prstGeom>
          <a:ln w="25400">
            <a:solidFill>
              <a:srgbClr val="829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989320" y="4160520"/>
            <a:ext cx="52120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8FAFD"/>
                </a:solidFill>
                <a:latin typeface="Microsoft YaHei"/>
              </a:rPr>
              <a:t>大消息阈值；从 8 VT 起步，按收益扩展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129784"/>
            <a:ext cx="1261872" cy="347472"/>
          </a:xfrm>
          <a:prstGeom prst="roundRect">
            <a:avLst/>
          </a:prstGeom>
          <a:solidFill>
            <a:srgbClr val="FF9933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5129784"/>
            <a:ext cx="12618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8FAFD"/>
                </a:solidFill>
                <a:latin typeface="Microsoft YaHei"/>
              </a:rPr>
              <a:t>跨租户干扰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12848" y="5129784"/>
            <a:ext cx="3017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E5ECF5"/>
                </a:solidFill>
                <a:latin typeface="Microsoft YaHei"/>
              </a:rPr>
              <a:t>借用兄弟 NIC 把拥塞转移给其它作业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303520" y="5303520"/>
            <a:ext cx="502920" cy="0"/>
          </a:xfrm>
          <a:prstGeom prst="line">
            <a:avLst/>
          </a:prstGeom>
          <a:ln w="25400">
            <a:solidFill>
              <a:srgbClr val="829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989320" y="5111496"/>
            <a:ext cx="52120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8FAFD"/>
                </a:solidFill>
                <a:latin typeface="Microsoft YaHei"/>
              </a:rPr>
              <a:t>交换机队列辅助；限制跨 Rail/PXN 配额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4572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25C8DD"/>
                </a:solidFill>
                <a:latin typeface="Microsoft YaHei"/>
              </a:rPr>
              <a:t>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8FAFD"/>
                </a:solidFill>
                <a:latin typeface="Microsoft YaHei"/>
              </a:rPr>
              <a:t>决策建议与下一步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60704"/>
            <a:ext cx="914400" cy="45720"/>
          </a:xfrm>
          <a:prstGeom prst="rect">
            <a:avLst/>
          </a:prstGeom>
          <a:solidFill>
            <a:srgbClr val="266CFF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64808"/>
            <a:ext cx="3657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8294AE"/>
                </a:solidFill>
                <a:latin typeface="Microsoft YaHe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53312"/>
            <a:ext cx="106984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8FAFD"/>
                </a:solidFill>
                <a:latin typeface="Microsoft YaHei"/>
              </a:rPr>
              <a:t>建议立项：以 PReCCL 式字节重分配为首期，保留 Theseus 式调度热切换接口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487168"/>
            <a:ext cx="2514600" cy="2331720"/>
          </a:xfrm>
          <a:prstGeom prst="roundRect">
            <a:avLst/>
          </a:prstGeom>
          <a:solidFill>
            <a:srgbClr val="1C2739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59" y="2670048"/>
            <a:ext cx="502920" cy="347472"/>
          </a:xfrm>
          <a:prstGeom prst="roundRect">
            <a:avLst/>
          </a:prstGeom>
          <a:solidFill>
            <a:srgbClr val="266CFF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670048"/>
            <a:ext cx="5029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8FAFD"/>
                </a:solidFill>
                <a:latin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273552"/>
            <a:ext cx="21031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AFD"/>
                </a:solidFill>
                <a:latin typeface="Microsoft YaHei"/>
              </a:rPr>
              <a:t>固定架构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3767328"/>
            <a:ext cx="21031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E5ECF5"/>
                </a:solidFill>
                <a:latin typeface="Microsoft YaHei"/>
              </a:rPr>
              <a:t>8 VT / 4 Rail × 2 QP
VT = Channel = QP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39" y="2487168"/>
            <a:ext cx="2514600" cy="2331720"/>
          </a:xfrm>
          <a:prstGeom prst="roundRect">
            <a:avLst/>
          </a:prstGeom>
          <a:solidFill>
            <a:srgbClr val="1C2739"/>
          </a:solidFill>
          <a:ln>
            <a:solidFill>
              <a:srgbClr val="25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85031" y="2670048"/>
            <a:ext cx="502920" cy="347472"/>
          </a:xfrm>
          <a:prstGeom prst="roundRect">
            <a:avLst/>
          </a:prstGeom>
          <a:solidFill>
            <a:srgbClr val="25C8DD"/>
          </a:solidFill>
          <a:ln>
            <a:solidFill>
              <a:srgbClr val="25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85031" y="2670048"/>
            <a:ext cx="5029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8FAFD"/>
                </a:solidFill>
                <a:latin typeface="Microsoft Ya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3273552"/>
            <a:ext cx="21031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AFD"/>
                </a:solidFill>
                <a:latin typeface="Microsoft YaHei"/>
              </a:rPr>
              <a:t>实现两级控制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3767328"/>
            <a:ext cx="21031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E5ECF5"/>
                </a:solidFill>
                <a:latin typeface="Microsoft YaHei"/>
              </a:rPr>
              <a:t>Rail 内 Path 优先
Incast 才跨 Rail + PXN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82512" y="2487168"/>
            <a:ext cx="2514600" cy="2331720"/>
          </a:xfrm>
          <a:prstGeom prst="roundRect">
            <a:avLst/>
          </a:prstGeom>
          <a:solidFill>
            <a:srgbClr val="1C2739"/>
          </a:solidFill>
          <a:ln>
            <a:solidFill>
              <a:srgbClr val="21B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47103" y="2670048"/>
            <a:ext cx="502920" cy="347472"/>
          </a:xfrm>
          <a:prstGeom prst="roundRect">
            <a:avLst/>
          </a:prstGeom>
          <a:solidFill>
            <a:srgbClr val="21B573"/>
          </a:solidFill>
          <a:ln>
            <a:solidFill>
              <a:srgbClr val="21B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47103" y="2670048"/>
            <a:ext cx="5029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8FAFD"/>
                </a:solidFill>
                <a:latin typeface="Microsoft YaHe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5392" y="3273552"/>
            <a:ext cx="21031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AFD"/>
                </a:solidFill>
                <a:latin typeface="Microsoft YaHei"/>
              </a:rPr>
              <a:t>交换机做观测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3767328"/>
            <a:ext cx="21031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E5ECF5"/>
                </a:solidFill>
                <a:latin typeface="Microsoft YaHei"/>
              </a:rPr>
              <a:t>path_id + 队列/ECN
禁止逐包改路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44584" y="2487168"/>
            <a:ext cx="2514600" cy="2331720"/>
          </a:xfrm>
          <a:prstGeom prst="roundRect">
            <a:avLst/>
          </a:prstGeom>
          <a:solidFill>
            <a:srgbClr val="1C2739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409176" y="2670048"/>
            <a:ext cx="502920" cy="347472"/>
          </a:xfrm>
          <a:prstGeom prst="roundRect">
            <a:avLst/>
          </a:prstGeom>
          <a:solidFill>
            <a:srgbClr val="FF9933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09176" y="2670048"/>
            <a:ext cx="5029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8FAFD"/>
                </a:solidFill>
                <a:latin typeface="Microsoft YaHe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27464" y="3273552"/>
            <a:ext cx="21031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AFD"/>
                </a:solidFill>
                <a:latin typeface="Microsoft YaHei"/>
              </a:rPr>
              <a:t>用 P95 验收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27464" y="3767328"/>
            <a:ext cx="21031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E5ECF5"/>
                </a:solidFill>
                <a:latin typeface="Microsoft YaHei"/>
              </a:rPr>
              <a:t>先做多租户大消息
再扩展 AlltoAll/EP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9808" y="5394960"/>
            <a:ext cx="10652760" cy="548640"/>
          </a:xfrm>
          <a:prstGeom prst="roundRect">
            <a:avLst/>
          </a:prstGeom>
          <a:solidFill>
            <a:srgbClr val="133153"/>
          </a:solidFill>
          <a:ln>
            <a:solidFill>
              <a:srgbClr val="133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5477256"/>
            <a:ext cx="101955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25C8DD"/>
                </a:solidFill>
                <a:latin typeface="Microsoft YaHei"/>
              </a:rPr>
              <a:t>成功形态：稳态几乎无损，路径冲突先局部修复，Rail 级 Incast 再使用 NVLink 兜底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NVL72 多 QP 动态 VT 调度方案</dc:title>
  <dc:subject>PReCCL 式运行时字节重分配与跨 Rail PXN 绕路</dc:subject>
  <dc:creator>Cursor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
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30352"/>
            <a:ext cx="196596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昇腾 950  /  HCCL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498079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8FAFD"/>
                </a:solidFill>
                <a:latin typeface="Droid Sans Fallback"/>
              </a:rPr>
              <a:t>PReCCL 式运行时拥塞检测
与数据切分方案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6949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AI CPU 模式为主：不换算法，只在算法拍边界改 tile→VT。检测在 L2 poll，切分在拍间 L2 Allocator。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51560"/>
            <a:ext cx="3520440" cy="416052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269748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2697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L2 检测 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606039"/>
            <a:ext cx="2697480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606039"/>
            <a:ext cx="2697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拍间改切分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657600"/>
            <a:ext cx="2697480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657600"/>
            <a:ext cx="2697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Droid Sans Fallback"/>
              </a:rPr>
              <a:t>下一拍生效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61772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8294AE"/>
                </a:solidFill>
                <a:latin typeface="Droid Sans Fallback"/>
              </a:rPr>
              <a:t>时序图源文件
docs/figures/*.mmd  *.svg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7772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8294AE"/>
                </a:solidFill>
                <a:latin typeface="Droid Sans Fallback"/>
              </a:rPr>
              <a:t>技术方案  |  2026-09  |  对应 docs/ascend950_preccl_design.md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Executive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结论：同一次 AllReduce 内，拍 i 检测，拍 i+1 生效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19659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2735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改什么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3236976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只改下一拍各 VT 的连续 Tile 份额
慢 VT 尾部划给快 VT
总字节守恒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64008" cy="1965960"/>
          </a:xfrm>
          <a:prstGeom prst="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32735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不改什么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00784"/>
            <a:ext cx="3236976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HCCL_ALGO / Ring 邻居 / HD 对端序列
拍数、VT↔Jetty、已发 WQE
算法边与角色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56616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64008" cy="196596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2735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在哪一层改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00784"/>
            <a:ext cx="3236976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5ECF5"/>
                </a:solidFill>
                <a:latin typeface="Droid Sans Fallback"/>
              </a:rPr>
              <a:t>检测：L2 AI CPU poll stall
改表：拍间 L2 Allocator
生效：下一拍 L2 再下 WQE
L0/L1 本集体不写表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11109960" cy="233172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C8DD"/>
                </a:solidFill>
                <a:latin typeface="Droid Sans Fallback"/>
              </a:rPr>
              <a:t>AI CPU 拍循环插入点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5ECF5"/>
                </a:solidFill>
                <a:latin typeface="Droid Sans Fallback"/>
              </a:rPr>
              <a:t>for step in 0 .. S-1:
    按当前 tile→VT 给本拍各 VT 下 WQE     # L2→L6 传数
    等本拍全部 CQE，记 stall                 # 同拍内不改表
    用本拍 stall 算下一拍切分               # 唯一调整点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两种展开模式：检测与切分对象不同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306324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93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AI CPU / AICPU_TS  默认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515721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编排者：片上 AI CPU → STARS
VT = 并发上下文 = 1 Jetty
UB 4～8 VT，UBoE 4 VT
stall 记在 AI CPU poll
主战场：UBoE、大消息、回退、拍内切分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94960" cy="306324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306324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023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CCU_SCHED  显式打开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0784"/>
            <a:ext cx="5065776" cy="2532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5ECF5"/>
                </a:solidFill>
                <a:latin typeface="Droid Sans Fallback"/>
              </a:rPr>
              <a:t>编排者：CCU → UB WQE
VT = CCU Mission = 1 Jetty
UB 8～16 VT，不用 CcuBuffer
大 Reduce 会回退 AI CPU
拍边界不一定暴露，逐拍切分后做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9933"/>
                </a:solidFill>
                <a:latin typeface="Droid Sans Fallback"/>
              </a:rPr>
              <a:t>禁止把两种 stall 计数直接比。T_hat 公式相同，必须用本模式自己的 poll 标定。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硬约束：VT = 一条可独立等待的 FIFO（Jetty / Transport Channel），禁止一条上下文喷多 Jetty</a:t>
            </a:r>
          </a:p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CCU_MS / AIV / DeepEP P2P 不做动态切分；950PR 的 L2 只允许 IO Die 转发，禁止 HBM 中继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AI CPU 七层：上面编排，下面传数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0432"/>
            <a:ext cx="640080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Host 控制面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70432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本集体不写表；跨集体才跑 Allocator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83664"/>
            <a:ext cx="64008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83664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83664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HCCL API / AIC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83664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整次集体 Commit 一次、Wait 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96896"/>
            <a:ext cx="640080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96896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96896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AI CPU 编排面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96896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按拍循环 / poll stall / 拍间改 tile→VT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10128"/>
            <a:ext cx="64008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10128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STARS 调度面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310128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每拍每 VT 一条 TS 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23360"/>
            <a:ext cx="640080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23360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URMA 传输面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023360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Jetty k FIFO，已发 WQE 不改绑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736592"/>
            <a:ext cx="64008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36592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36592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网络面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736592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Channel k → UB Port 或 UBoE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449824"/>
            <a:ext cx="640080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49824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L6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449824"/>
            <a:ext cx="2377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本拍对端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449824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同 VT 收齐；尾包对齐下一拍长度表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63640"/>
            <a:ext cx="10058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C8DD"/>
                </a:solidFill>
                <a:latin typeface="Droid Sans Fallback"/>
              </a:rPr>
              <a:t>热路径 L2→L6；切分只发生在黄块的 L2。L0 不在拍间。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对象模型：一条 VT 一条 Jetty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57600" cy="2194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219456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硬绑定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33284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VT = AI CPU 并发上下文
    = URMA Jetty
    = 1 条 Transport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20440" cy="2194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219456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2278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UB 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0784"/>
            <a:ext cx="319125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4～8 VT
4 个 Port 组 × 至多 2 Channel
同组必须是独立 FIFO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520440" cy="21945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64008" cy="21945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371600"/>
            <a:ext cx="32278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UBoE 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00784"/>
            <a:ext cx="319125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4 VT = 2×400G × 2 Jetty
不同 UDP 源端口做 ECMP 熵
最像 NCCL channel=QP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548640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64008" cy="196596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79"/>
            <a:ext cx="5193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切分单位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9663"/>
            <a:ext cx="5157216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用户 buffer → rank 块 → Tile → 恰好一个 VT
Tile：UB 1～4MB，UBoE 128～512KB
迁徙只迁尾部连续区间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49039"/>
            <a:ext cx="5349240" cy="19659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64008" cy="19659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79"/>
            <a:ext cx="505663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检测主信号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69663"/>
            <a:ext cx="5020055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sq_stall / cq_stall / bytes_done 进 T_hat
stream_stall 只辅信号，单独涨则冻权重
T_hat = alpha + bytes_remain / B_hat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时序图文件：源文件与幻灯片对应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C8DD"/>
                </a:solidFill>
                <a:latin typeface="Droid Sans Fallback"/>
              </a:rPr>
              <a:t>目录  docs/figures/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1018520" cy="6858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19072"/>
            <a:ext cx="105156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51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图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27632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Droid Sans Fallback"/>
              </a:rPr>
              <a:t>a_component_layers.mmd / .svg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01952"/>
            <a:ext cx="9144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七层组件与控制/数据边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31720"/>
            <a:ext cx="11018520" cy="6858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496312"/>
            <a:ext cx="105156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051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图 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04872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Droid Sans Fallback"/>
              </a:rPr>
              <a:t>d1_hop_layers.mmd / .svg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79191"/>
            <a:ext cx="9144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三拍 × 七层（拍 i / 拍间 / 拍 i+1）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08960"/>
            <a:ext cx="11018520" cy="6858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2"/>
            <a:ext cx="105156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1051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图 D2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182112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Droid Sans Fallback"/>
              </a:rPr>
              <a:t>d2_hop_sequence.mmd / .svg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56432"/>
            <a:ext cx="9144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同一次 AllReduce 内完整拍间时序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1018520" cy="6858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050791"/>
            <a:ext cx="1051560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50791"/>
            <a:ext cx="10515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图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59352"/>
            <a:ext cx="5120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Droid Sans Fallback"/>
              </a:rPr>
              <a:t>c_epoch_sequence.mmd / .svg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33672"/>
            <a:ext cx="9144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跨集体对照：Wait 后 L0 改表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9933"/>
                </a:solidFill>
                <a:latin typeface="Droid Sans Fallback"/>
              </a:rPr>
              <a:t>后面三页把 D2 按时序拆成拍 i / 拍间 / 拍 i+1，层次与源文件一致。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设计正文：docs/ascend950_preccl_design.md 第 3.5 / 3.6 节</a:t>
            </a:r>
          </a:p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重生成本 PPT：python3 tools/generate_ascend950_preccl_ppt.py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Sequence  /  docs/figures/d2_hop_sequence.mmd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图 D2-1  算法拍 i：L2→L6 只用 tile→VT_i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92840" cy="5074920"/>
          </a:xfrm>
          <a:prstGeom prst="roundRect">
            <a:avLst/>
          </a:prstGeom>
          <a:solidFill>
            <a:srgbClr val="203A5C"/>
          </a:solidFill>
          <a:ln>
            <a:solidFill>
              <a:srgbClr val="2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292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-64007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6400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框架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6588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29660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9660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 Host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90257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23329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3329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 AIC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83925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16997" y="1234440"/>
            <a:ext cx="1133856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699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 AI CPU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77594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0666" y="1234440"/>
            <a:ext cx="1133856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0666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 STARS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1262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04334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4334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L4 Jetty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64931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98003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8003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L5 网络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65860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091672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1672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L6 对端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627632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C8DD"/>
                </a:solidFill>
                <a:latin typeface="Droid Sans Fallback"/>
              </a:rPr>
              <a:t>算法图冻结：谁在哪一拍跟谁说话不改    L0 本集体不再写表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90257" y="1965960"/>
            <a:ext cx="1593668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52651" y="176479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Commit（整次集体只一次）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83925" y="2350008"/>
            <a:ext cx="502920" cy="0"/>
          </a:xfrm>
          <a:prstGeom prst="line">
            <a:avLst/>
          </a:prstGeom>
          <a:ln w="1524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32565" y="2203703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E5ECF5"/>
                </a:solidFill>
                <a:latin typeface="Droid Sans Fallback"/>
              </a:rPr>
              <a:t>按原算法挂本拍 chunk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83925" y="2734056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46319" y="2532887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每 VT 一条 TS 任务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77594" y="3118104"/>
            <a:ext cx="1593668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39988" y="2916936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doorbell SQE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71262" y="3502152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33657" y="3300984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Transport Channel 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064931" y="3886200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27325" y="368503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本拍数据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71262" y="4270248"/>
            <a:ext cx="3187338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830491" y="4069080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Notify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77594" y="4654296"/>
            <a:ext cx="1593668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39988" y="4453128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CQE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83925" y="5038344"/>
            <a:ext cx="1593669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46319" y="4837176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E5ECF5"/>
                </a:solidFill>
                <a:latin typeface="Droid Sans Fallback"/>
              </a:rPr>
              <a:t>本拍该 VT 完成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283925" y="5422392"/>
            <a:ext cx="502920" cy="0"/>
          </a:xfrm>
          <a:prstGeom prst="line">
            <a:avLst/>
          </a:prstGeom>
          <a:ln w="1524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832565" y="527608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E5ECF5"/>
                </a:solidFill>
                <a:latin typeface="Droid Sans Fallback"/>
              </a:rPr>
              <a:t>poll stall，已发 WQE 不改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603504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C8DD"/>
                </a:solidFill>
                <a:latin typeface="Droid Sans Fallback"/>
              </a:rPr>
              <a:t>蓝块：只记账，不改表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Sequence  /  同一次 AllReduce 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图 D2-2  拍间屏障：切分只在 L2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92840" cy="5074920"/>
          </a:xfrm>
          <a:prstGeom prst="roundRect">
            <a:avLst/>
          </a:prstGeom>
          <a:solidFill>
            <a:srgbClr val="483616"/>
          </a:solidFill>
          <a:ln>
            <a:solidFill>
              <a:srgbClr val="483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292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-64007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6400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框架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6588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29660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9660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 Host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90257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23329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3329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 AIC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83925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16997" y="1234440"/>
            <a:ext cx="1133856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699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 AI CPU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77594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0666" y="1234440"/>
            <a:ext cx="1133856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0666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 STARS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1262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04334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4334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L4 Jetty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64931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98003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8003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L5 网络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65860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091672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1672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L6 对端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627632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9933"/>
                </a:solidFill>
                <a:latin typeface="Droid Sans Fallback"/>
              </a:rPr>
              <a:t>本拍全部 CQE 已收齐。L0 / L1 不参与。L3～L6 只捎带下一拍长度表。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3925" y="2103120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46319" y="1901951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8FAFD"/>
                </a:solidFill>
                <a:latin typeface="Droid Sans Fallback"/>
              </a:rPr>
              <a:t>尾包捎带 w_i+1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77594" y="2633472"/>
            <a:ext cx="1593668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39988" y="2432303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8FAFD"/>
                </a:solidFill>
                <a:latin typeface="Droid Sans Fallback"/>
              </a:rPr>
              <a:t>带内 footer（不新建连接）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71262" y="3163824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33657" y="2962656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8FAFD"/>
                </a:solidFill>
                <a:latin typeface="Droid Sans Fallback"/>
              </a:rPr>
              <a:t>原 Channel 带出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64931" y="3694175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627325" y="3493007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8FAFD"/>
                </a:solidFill>
                <a:latin typeface="Droid Sans Fallback"/>
              </a:rPr>
              <a:t>下一拍长度表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83925" y="4224527"/>
            <a:ext cx="6374675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236822" y="4023359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8FAFD"/>
                </a:solidFill>
                <a:latin typeface="Droid Sans Fallback"/>
              </a:rPr>
              <a:t>对端对齐 / 同一公式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83925" y="4754879"/>
            <a:ext cx="502920" cy="0"/>
          </a:xfrm>
          <a:prstGeom prst="line">
            <a:avLst/>
          </a:prstGeom>
          <a:ln w="1524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32565" y="4608575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8FAFD"/>
                </a:solidFill>
                <a:latin typeface="Droid Sans Fallback"/>
              </a:rPr>
              <a:t>Allocator 写 tile→VT_i+1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5349240"/>
            <a:ext cx="5669280" cy="640080"/>
          </a:xfrm>
          <a:prstGeom prst="roundRect">
            <a:avLst/>
          </a:prstGeom>
          <a:solidFill>
            <a:srgbClr val="5A3C12"/>
          </a:solidFill>
          <a:ln>
            <a:solidFill>
              <a:srgbClr val="5A3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544068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D"/>
                </a:solidFill>
                <a:latin typeface="Droid Sans Fallback"/>
              </a:rPr>
              <a:t>唯一调整点：L2 写下一拍连续 Tile，不碰算法、不回 L0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Sequence  /  生效点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图 D2-3  算法拍 i+1：同一 Jetty，新区间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11292840" cy="5074920"/>
          </a:xfrm>
          <a:prstGeom prst="roundRect">
            <a:avLst/>
          </a:prstGeom>
          <a:solidFill>
            <a:srgbClr val="183E2A"/>
          </a:solidFill>
          <a:ln>
            <a:solidFill>
              <a:srgbClr val="183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292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-64007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6400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框架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96588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29660" y="1234440"/>
            <a:ext cx="1133856" cy="329184"/>
          </a:xfrm>
          <a:prstGeom prst="roundRect">
            <a:avLst/>
          </a:prstGeom>
          <a:solidFill>
            <a:srgbClr val="8294AE"/>
          </a:solidFill>
          <a:ln>
            <a:solidFill>
              <a:srgbClr val="829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9660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 Host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90257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23329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3329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 AIC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83925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16997" y="1234440"/>
            <a:ext cx="1133856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6997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 AI CPU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77594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0666" y="1234440"/>
            <a:ext cx="1133856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0666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 STARS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1262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04334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4334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L4 Jetty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64931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98003" y="1234440"/>
            <a:ext cx="1133856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8003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L5 网络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658600" y="1527048"/>
            <a:ext cx="0" cy="4462272"/>
          </a:xfrm>
          <a:prstGeom prst="line">
            <a:avLst/>
          </a:prstGeom>
          <a:ln w="12700">
            <a:solidFill>
              <a:srgbClr val="465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091672" y="1234440"/>
            <a:ext cx="1133856" cy="329184"/>
          </a:xfrm>
          <a:prstGeom prst="round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1672" y="1234440"/>
            <a:ext cx="113385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L6 对端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627632"/>
            <a:ext cx="10972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1B573"/>
                </a:solidFill>
                <a:latin typeface="Droid Sans Fallback"/>
              </a:rPr>
              <a:t>仍走 L2→L6。Jetty / Channel / 对端角色不变，只是各口字节多少变。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3925" y="2011680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46319" y="18105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按 tile→VT_i+1 下 Tile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77594" y="2468880"/>
            <a:ext cx="1593668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39988" y="22677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仍是 Jetty 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71262" y="2926080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33657" y="27249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仍是 Channel 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64931" y="3383280"/>
            <a:ext cx="1593669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627325" y="31821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角色不变，字节多少变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71262" y="3840480"/>
            <a:ext cx="3187338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30491" y="36393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Notify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83925" y="4297680"/>
            <a:ext cx="3187337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43154" y="40965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拍 i+1 CQE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90257" y="4754880"/>
            <a:ext cx="1593668" cy="0"/>
          </a:xfrm>
          <a:prstGeom prst="line">
            <a:avLst/>
          </a:prstGeom>
          <a:ln w="16510">
            <a:solidFill>
              <a:srgbClr val="25C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52651" y="45537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全部拍结束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5212080"/>
            <a:ext cx="3187337" cy="0"/>
          </a:xfrm>
          <a:prstGeom prst="line">
            <a:avLst/>
          </a:prstGeom>
          <a:ln w="16510">
            <a:solidFill>
              <a:srgbClr val="8294A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2148" y="5010912"/>
            <a:ext cx="2468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E5ECF5"/>
                </a:solidFill>
                <a:latin typeface="Droid Sans Fallback"/>
              </a:rPr>
              <a:t>Wait 返回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03504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1B573"/>
                </a:solidFill>
                <a:latin typeface="Droid Sans Fallback"/>
              </a:rPr>
              <a:t>绿块：生效    L0 仍不改表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Layers × time  /  docs/figures/d1_hop_layers.mmd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图 D1  三拍 × 七层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1965960" cy="502920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2344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3736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3736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37360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不写表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395728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3957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395728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Commit 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1170432"/>
            <a:ext cx="1965960" cy="5029200"/>
          </a:xfrm>
          <a:prstGeom prst="roundRect">
            <a:avLst/>
          </a:prstGeom>
          <a:solidFill>
            <a:srgbClr val="203A5C"/>
          </a:solidFill>
          <a:ln>
            <a:solidFill>
              <a:srgbClr val="20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12344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拍 i  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15768" y="173736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173736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1737360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按 VT_i 挂 chunk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15768" y="2395728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23957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2395728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每 VT 一条 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15768" y="3054096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30540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054096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Jetty doorbell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5768" y="3712464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5768" y="37124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3712464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Channel 出端口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15768" y="4370831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4370831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4370831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对端收齐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5768" y="502920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5768" y="502920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5029200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poll stall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1170432"/>
            <a:ext cx="1965960" cy="5029200"/>
          </a:xfrm>
          <a:prstGeom prst="roundRect">
            <a:avLst/>
          </a:prstGeom>
          <a:solidFill>
            <a:srgbClr val="483616"/>
          </a:solidFill>
          <a:ln>
            <a:solidFill>
              <a:srgbClr val="483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3" y="12344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拍间  黄  唯一改表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84648" y="173736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648" y="173736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3288" y="1737360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不参与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84648" y="2395728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4648" y="23957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2395728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不参与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84648" y="3054096"/>
            <a:ext cx="502920" cy="329184"/>
          </a:xfrm>
          <a:prstGeom prst="round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84648" y="30540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3288" y="3054096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Allocator 写 VT_i+1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84648" y="3712464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84648" y="37124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L3-6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33288" y="3712464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只捎带 w_i+1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1170432"/>
            <a:ext cx="1965960" cy="5029200"/>
          </a:xfrm>
          <a:prstGeom prst="roundRect">
            <a:avLst/>
          </a:prstGeom>
          <a:solidFill>
            <a:srgbClr val="183E2A"/>
          </a:solidFill>
          <a:ln>
            <a:solidFill>
              <a:srgbClr val="183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98664" y="1234440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拍 i+1  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53527" y="173736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7" y="173736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1737360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按新表挂 Tile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53527" y="2395728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3527" y="23957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2168" y="2395728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仍下原 VT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53527" y="3054096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53527" y="3054096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3054096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仍是 Jetty 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53527" y="3712464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53527" y="3712464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8" y="3712464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仍是 Channel 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53527" y="4370831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53527" y="4370831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2168" y="4370831"/>
            <a:ext cx="11887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角色不变 字节变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12680" y="1170432"/>
            <a:ext cx="1691640" cy="502920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67544" y="123444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Droid Sans Fallback"/>
              </a:rPr>
              <a:t>出口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22407" y="1737360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22407" y="1737360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71048" y="1737360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Wait 一次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22407" y="2395728"/>
            <a:ext cx="502920" cy="329184"/>
          </a:xfrm>
          <a:prstGeom prst="round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22407" y="239572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AFD"/>
                </a:solidFill>
                <a:latin typeface="Droid Sans Fallback"/>
              </a:rPr>
              <a:t>L0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71048" y="2395728"/>
            <a:ext cx="914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E5ECF5"/>
                </a:solidFill>
                <a:latin typeface="Droid Sans Fallback"/>
              </a:rPr>
              <a:t>仍不改表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Optional path  /  docs/figures/c_epoch_sequence.mmd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图 C 对照：跨集体才走 L0 Allocator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228600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93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拍内路径（推荐，AI CPU）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515721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一次 HcclAllReduce 内
拍 i 收齐 → L2 改表 → 拍 i+1 生效
L0 不写表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94960" cy="228600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228600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023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跨集体路径（小消息 / CCU）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0784"/>
            <a:ext cx="506577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CCT e Wait 之后
L0 小 AllReduce + Allocator
下一次 Prepare 读新表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不要把「训练 step」和「算法拍」混为一谈。本方案主路径是算法拍。</a:t>
            </a:r>
          </a:p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同一步有多次集体时，跨集体路径要指定 epoch 集体，避免同一步切分前后不一致。</a:t>
            </a:r>
          </a:p>
          <a:p>
            <a:pPr>
              <a:spcAft>
                <a:spcPts val="800"/>
              </a:spcAft>
              <a:defRPr sz="1600">
                <a:solidFill>
                  <a:srgbClr val="E5ECF5"/>
                </a:solidFill>
                <a:latin typeface="Droid Sans Fallback"/>
              </a:defRPr>
            </a:pPr>
            <a:r>
              <a:t>•  图模式要把 tile→VT 做成间接表，否则重放吃旧展开；拍内路径不依赖 Host 再下发。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Ring vs HD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Ring 可逐拍切，HD 默认只在相变切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" cy="288036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93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5157216" cy="2350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相邻两拍对端不变（next/prev）
step i 的 stall 可直接切 step i+1
大消息（单拍 ≥1～2MB）可逐拍
收发双方尾包对齐长度表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94960" cy="288036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288036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023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Droid Sans Fallback"/>
              </a:rPr>
              <a:t>HD Halving-Doubling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0784"/>
            <a:ext cx="5065776" cy="2350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5ECF5"/>
                </a:solidFill>
                <a:latin typeface="Droid Sans Fallback"/>
              </a:rPr>
              <a:t>每拍换对端（rank XOR 2^i）
对端 A 的 stall 不能当对端 B 的 VT 权重
默认只在 RS→AG 相变切一次
Port 级 L2 权重可以跨拍留下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拍间必须收齐：有 hop pipeline 就关掉，或改成每 K 拍 / 只在相变切</a:t>
            </a:r>
          </a:p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不要为对齐再做一次全局小 AllReduce，会比一拍还贵</a:t>
            </a:r>
          </a:p>
          <a:p>
            <a:pPr>
              <a:spcAft>
                <a:spcPts val="800"/>
              </a:spcAft>
              <a:defRPr sz="1500">
                <a:solidFill>
                  <a:srgbClr val="E5ECF5"/>
                </a:solidFill>
                <a:latin typeface="Droid Sans Fallback"/>
              </a:defRPr>
            </a:pPr>
            <a:r>
              <a:t>•  CCU_SCHED 拍边界不一定暴露，逐拍切分首期只做 AI CPU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落地顺序与验收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7432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2468880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4505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A  可观测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41401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Mission/上下文绑 1 Jetty
打 stall，验证 stream_stall
单独涨时不切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280160"/>
            <a:ext cx="27432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1280160"/>
            <a:ext cx="64008" cy="2468880"/>
          </a:xfrm>
          <a:prstGeom prst="rect">
            <a:avLst/>
          </a:prstGeom>
          <a:solidFill>
            <a:srgbClr val="25C8DD"/>
          </a:solidFill>
          <a:ln>
            <a:solidFill>
              <a:srgbClr val="25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371600"/>
            <a:ext cx="24505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B  相变一次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700784"/>
            <a:ext cx="241401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RS→AG 之间切一次
Ring 与 HD 都能做
仍在同一次 AllReduce 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280160"/>
            <a:ext cx="27432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1280160"/>
            <a:ext cx="64008" cy="2468880"/>
          </a:xfrm>
          <a:prstGeom prst="rect">
            <a:avLst/>
          </a:prstGeom>
          <a:solidFill>
            <a:srgbClr val="21B573"/>
          </a:solidFill>
          <a:ln>
            <a:solidFill>
              <a:srgbClr val="21B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371600"/>
            <a:ext cx="24505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C  大消息逐拍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700784"/>
            <a:ext cx="241401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仅 Ring、单拍够长
尾包对齐长度表
关 hop 重叠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1280160"/>
            <a:ext cx="2743200" cy="2468880"/>
          </a:xfrm>
          <a:prstGeom prst="roundRect">
            <a:avLst/>
          </a:prstGeom>
          <a:solidFill>
            <a:srgbClr val="1C2739"/>
          </a:solidFill>
          <a:ln>
            <a:solidFill>
              <a:srgbClr val="33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280160"/>
            <a:ext cx="64008" cy="246888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371600"/>
            <a:ext cx="24505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Droid Sans Fallback"/>
              </a:rPr>
              <a:t>D  生产约束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1700784"/>
            <a:ext cx="2414016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图模式间接表
与 OP_RETRY 共存
VT 数给融合留余量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23360"/>
            <a:ext cx="11155680" cy="1965960"/>
          </a:xfrm>
          <a:prstGeom prst="roundRect">
            <a:avLst/>
          </a:prstGeom>
          <a:solidFill>
            <a:srgbClr val="133153"/>
          </a:solidFill>
          <a:ln>
            <a:solidFill>
              <a:srgbClr val="13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C8DD"/>
                </a:solidFill>
                <a:latin typeface="Droid Sans Fallback"/>
              </a:rPr>
              <a:t>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限速 1 个 UB Port 或 1 条 UBoE 到 10%：健康 VT 仍满速，集体不跟死链路走</a:t>
            </a:r>
          </a:p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STARS / TS 轨迹：没有中途改 Jetty；权重只在拍边界或集体边界变</a:t>
            </a:r>
          </a:p>
          <a:p>
            <a:pPr>
              <a:spcAft>
                <a:spcPts val="800"/>
              </a:spcAft>
              <a:defRPr sz="1400">
                <a:solidFill>
                  <a:srgbClr val="E5ECF5"/>
                </a:solidFill>
                <a:latin typeface="Droid Sans Fallback"/>
              </a:defRPr>
            </a:pPr>
            <a:r>
              <a:t>•  各 rank 下一拍长度表一致；950PR 上 L2 无额外 HBM 中继拷贝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7315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C8DD"/>
                </a:solidFill>
                <a:latin typeface="Droid Sans Fallback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Droid Sans Fallback"/>
              </a:rPr>
              <a:t>风险与明确不做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9264"/>
            <a:ext cx="914400" cy="41148"/>
          </a:xfrm>
          <a:prstGeom prst="rect">
            <a:avLst/>
          </a:prstGeom>
          <a:solidFill>
            <a:srgbClr val="266CFF"/>
          </a:solidFill>
          <a:ln>
            <a:solidFill>
              <a:srgbClr val="26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8294AE"/>
                </a:solidFill>
                <a:latin typeface="Droid Sans Fallback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07008"/>
            <a:ext cx="1325880" cy="329184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Droid Sans Fallback"/>
              </a:rPr>
              <a:t>拍重叠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07008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hop i+1 发送与 hop i 接收并行则没有屏障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0700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Droid Sans Fallback"/>
              </a:rPr>
              <a:t>关 pipeline，或退回相变 / 跨集体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67128"/>
            <a:ext cx="1325880" cy="329184"/>
          </a:xfrm>
          <a:prstGeom prst="roundRect">
            <a:avLst/>
          </a:prstGeom>
          <a:solidFill>
            <a:srgbClr val="E14848"/>
          </a:solidFill>
          <a:ln>
            <a:solidFill>
              <a:srgbClr val="E1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Droid Sans Fallback"/>
              </a:rPr>
              <a:t>HD 错切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67128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把旧对端 stall 用到新对端 VT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6712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Droid Sans Fallback"/>
              </a:rPr>
              <a:t>HD 不默认逐拍，只切 RS→AG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127248"/>
            <a:ext cx="1325880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2724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Droid Sans Fallback"/>
              </a:rPr>
              <a:t>cache / 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27248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AI CPU cache 或 aclgraph 重放旧表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2724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Droid Sans Fallback"/>
              </a:rPr>
              <a:t>CacheDisable；tile→VT 间接读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87368"/>
            <a:ext cx="1325880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Droid Sans Fallback"/>
              </a:rPr>
              <a:t>stall 混用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087368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AI CPU 与 CCU 计数直接比较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8736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Droid Sans Fallback"/>
              </a:rPr>
              <a:t>T_hat 必须用本模式标定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047488"/>
            <a:ext cx="1325880" cy="329184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47488"/>
            <a:ext cx="1325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AFD"/>
                </a:solidFill>
                <a:latin typeface="Droid Sans Fallback"/>
              </a:rPr>
              <a:t>CTP 丢包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047488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E5ECF5"/>
                </a:solidFill>
                <a:latin typeface="Droid Sans Fallback"/>
              </a:rPr>
              <a:t>无端到端 SACK，不能 Jetty 内重排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047488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Droid Sans Fallback"/>
              </a:rPr>
              <a:t>慢 VT 降权或隔离，走 OP_RETRY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昇腾950 PReCCL式运行时拥塞检测与数据切分</dc:title>
  <dc:subject>AI CPU 模式算法拍时序与层次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